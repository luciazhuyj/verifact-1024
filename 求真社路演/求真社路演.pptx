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6" Type="http://schemas.openxmlformats.org/officeDocument/2006/relationships/viewProps" Target="viewProps.xml" /><Relationship Id="rId5" Type="http://schemas.openxmlformats.org/officeDocument/2006/relationships/slide" Target="slides/slide5.xml" /><Relationship Id="rId13" Type="http://schemas.openxmlformats.org/officeDocument/2006/relationships/notesMaster" Target="notesMasters/notesMaster1.xml" /><Relationship Id="rId15" Type="http://schemas.openxmlformats.org/officeDocument/2006/relationships/tableStyles" Target="tableStyles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presProps" Target="presProp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9.svg" /><Relationship Id="rId2" Type="http://schemas.openxmlformats.org/officeDocument/2006/relationships/image" Target="media/image8.svg" /><Relationship Id="rId4" Type="http://schemas.openxmlformats.org/officeDocument/2006/relationships/image" Target="media/image10.svg" /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2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background: '#F4F1E9', padding: '0', position: 'relative', overflow: 'hidden' }}&gt;&#10;&#10;  {/* 背景巨型淡印 */}&#10;  &lt;Box style={{ position: 'absolute', top: 0, left: 0, width: '100%', height: '100%', opacity: 0.05, alignItems: 'flex-end', justifyContent: 'flex-end' }}&gt;&#10;    &lt;svg width={640} height={640} viewBox='0 0 300 300'&gt;&#10;      &lt;circle cx='150' cy='150' r='132' fill='none' stroke='#A8351A' strokeWidth='9' /&gt;&#10;      &lt;circle cx='150' cy='150' r='116' fill='none' stroke='#A8351A' strokeWidth='3' /&gt;&#10;    &lt;/svg&gt;&#10;  &lt;/Box&gt;&#10;&#10;  &lt;Box style={{ flexDirection: 'row', height: '100%', padding: '56px 72px', position: 'relative', zIndex: 1 }}&gt;&#10;&#10;    {/* 左 · 文字骑入 */}&#10;    &lt;Box style={{ flex: 1, justifyContent: 'center', gap: 0 }}&gt;&#10;&#10;      &lt;Text style={{ fontFamily: 'PingFang SC', fontSize: 15, color: '#3F4A55', letterSpacing: 3, marginBottom: 22 }}&gt;&#10;        VERIFACT / VF-1024&#10;      &lt;/Text&gt;&#10;&#10;      &lt;Text style={{ fontFamily: 'Songti SC', fontSize: 68, fontWeight: 'bold', color: '#1A1A1A', lineHeight: 1.2 }}&gt;&#10;        求真社&#10;      &lt;/Text&gt;&#10;&#10;      &lt;Box style={{ width: 68, height: 5, background: '#A8351A', marginTop: 22, marginBottom: 22 }} /&gt;&#10;&#10;      &lt;Text style={{ fontFamily: 'Songti SC', fontSize: 30, color: '#1A1A1A', lineHeight: 1.5 }}&gt;&#10;        一条传言，一份卷宗&#10;      &lt;/Text&gt;&#10;&#10;      &lt;Text style={{ fontFamily: 'PingFang SC', fontSize: 19, color: '#3F4A55', lineHeight: 1.7, marginTop: 26 }}&gt;&#10;        把那条听起来很真的话交进来&lt;br /&gt;&#10;        我们把它拆开，去全网搜证据&lt;br /&gt;&#10;        带来源回来，盖一个章&#10;      &lt;/Text&gt;&#10;&#10;      &lt;Text style={{ fontFamily: 'PingFang SC', fontSize: 14, color: '#3F4A55', opacity: 0.75, marginTop: 46, lineHeight: 1.6 }}&gt;&#10;        WaytoAGI 1024 切磋大会 · 侦探赛道&lt;br /&gt;&#10;        检索驱动：元宝搜索&#10;      &lt;/Text&gt;&#10;&#10;    &lt;/Box&gt;&#10;&#10;    {/* 右 · L1 巨型朱砂印章 */}&#10;    &lt;Box style={{ width: 470, alignItems: 'center', justifyContent: 'center' }}&gt;&#10;      &lt;svg width={420} height={420} viewBox='0 0 300 300'&gt;&#10;        &lt;circle cx='150' cy='150' r='138' fill='rgba(168,53,26,0.06)' stroke='#A8351A' strokeWidth='8' /&gt;&#10;        &lt;circle cx='150' cy='150' r='124' fill='none' stroke='#A8351A' strokeWidth='2.5' /&gt;&#10;        &lt;text x='150' y='128' textAnchor='middle' fontFamily='Songti SC' fontSize='62' fontWeight='bold' fill='#A8351A'&gt;查&lt;/text&gt;&#10;        &lt;text x='150' y='196' textAnchor='middle' fontFamily='Songti SC' fontSize='62' fontWeight='bold' fill='#A8351A'&gt;真&lt;/text&gt;&#10;        &lt;text x='150' y='234' textAnchor='middle' fontFamily='PingFang SC' fontSize='13' fill='#A8351A' letterSpacing='3'&gt;VERIFACT&lt;/text&gt;&#10;      &lt;/svg&gt;&#10;    &lt;/Box&gt;&#10;&#10;  &lt;/Box&gt;&#10;&#10;  {/* 底部朱砂条 */}&#10;  &lt;Box style={{ position: 'absolute', left: 0, bottom: 0, width: '100%', height: 8, background: '#A8351A' }} /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5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762000"/>
            <a:ext cx="6096000" cy="6096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123950"/>
            <a:ext cx="6343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3F4A55"/>
                </a:solidFill>
                <a:latin typeface="PingFang SC"/>
                <a:ea typeface="PingFang SC"/>
              </a:rPr>
              <a:t>VERIFACT / VF-1024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1504950"/>
            <a:ext cx="6343650" cy="933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100" b="1">
                <a:solidFill>
                  <a:srgbClr val="1A1A1A"/>
                </a:solidFill>
                <a:latin typeface="Songti SC"/>
                <a:ea typeface="Songti SC"/>
              </a:rPr>
              <a:t>求真社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85800" y="2647950"/>
            <a:ext cx="647700" cy="47625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63436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250">
                <a:solidFill>
                  <a:srgbClr val="1A1A1A"/>
                </a:solidFill>
                <a:latin typeface="Songti SC"/>
                <a:ea typeface="Songti SC"/>
              </a:rPr>
              <a:t>一条传言，一份卷宗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3667125"/>
            <a:ext cx="6343650" cy="1114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把那条听起来很真的话交进来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我们把它拆开，去全网搜证据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带来源回来，盖一个章</a:t>
            </a:r>
            <a:endParaRPr/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67575" y="1428750"/>
            <a:ext cx="4000500" cy="4000500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5219700"/>
            <a:ext cx="63436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F4A55">
                    <a:alpha val="75000"/>
                  </a:srgbClr>
                </a:solidFill>
                <a:latin typeface="PingFang SC"/>
                <a:ea typeface="PingFang SC"/>
              </a:rPr>
              <a:t>WaytoAGI 1024 </a:t>
            </a:r>
            <a:r>
              <a:rPr lang="zh-CN" sz="1050">
                <a:solidFill>
                  <a:srgbClr val="3F4A55">
                    <a:alpha val="75000"/>
                  </a:srgbClr>
                </a:solidFill>
                <a:latin typeface="PingFang SC"/>
                <a:ea typeface="PingFang SC"/>
              </a:rPr>
              <a:t>切磋大会</a:t>
            </a:r>
            <a:r>
              <a:rPr lang="en-US" sz="1050">
                <a:solidFill>
                  <a:srgbClr val="3F4A55">
                    <a:alpha val="75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3F4A55">
                    <a:alpha val="75000"/>
                  </a:srgbClr>
                </a:solidFill>
                <a:latin typeface="PingFang SC"/>
                <a:ea typeface="PingFang SC"/>
              </a:rPr>
              <a:t>侦探赛道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3F4A55">
                    <a:alpha val="75000"/>
                  </a:srgbClr>
                </a:solidFill>
                <a:latin typeface="PingFang SC"/>
                <a:ea typeface="PingFang SC"/>
              </a:rPr>
              <a:t>检索驱动：元宝搜索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8" name="" descr="&lt;Slide style={{ background: '#F4F1E9', padding: '20px 72px' }}&gt;&#10;&#10;  {/* A · 标题块 20–120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家族群的那条消息&#10;    &lt;/Text&gt;&#10;  &lt;/Box&gt;&#10;&#10;  {/* B · 内容区 120–660 */}&#10;  &lt;Box style={{ height: 540, flexDirection: 'row', gap: 40, paddingTop: 18 }}&gt;&#10;&#10;    {/* 左 58% · L1 手机界面示意 */}&#10;    &lt;Box style={{ width: 660, background: '#FDFCF7', border: '1px solid rgba(26,26,26,0.14)', borderRadius: 4, padding: '20px 22px', justifyContent: 'center' }}&gt;&#10;      &lt;svg width={616} height={438} viewBox='0 0 616 438'&gt;&#10;        &lt;rect x='6' y='6' width='604' height='426' rx='16' fill='#FFFFFF' stroke='#1A1A1A' strokeWidth='2' /&gt;&#10;        &lt;rect x='6' y='6' width='604' height='56' rx='16' fill='#1A1A1A' /&gt;&#10;        &lt;rect x='6' y='40' width='604' height='22' fill='#1A1A1A' /&gt;&#10;        &lt;text x='34' y='42' fontFamily='PingFang SC' fontSize='19' fill='#F4F1E9'&gt;家族群（4）&lt;/text&gt;&#10;        &lt;text x='540' y='42' fontFamily='PingFang SC' fontSize='15' fill='#F4F1E9' opacity='0.6'&gt;···&lt;/text&gt;&#10;&#10;        &lt;rect x='30' y='86' width='300' height='54' rx='10' fill='#F1EEE6' /&gt;&#10;        &lt;text x='50' y='118' fontFamily='PingFang SC' fontSize='16' fill='#3F4A55'&gt;妈：今天降温，多穿点&lt;/text&gt;&#10;&#10;        &lt;rect x='286' y='156' width='300' height='54' rx='10' fill='#E8E4D9' /&gt;&#10;        &lt;text x='306' y='188' fontFamily='PingFang SC' fontSize='16' fill='#3F4A55'&gt;我：好嘞&lt;/text&gt;&#10;&#10;        {/* 传言气泡 —— 朱砂高亮 */}&#10;        &lt;rect x='30' y='226' width='470' height='92' rx='10' fill='rgba(168,53,26,0.08)' stroke='#A8351A' strokeWidth='2.5' /&gt;&#10;        &lt;text x='50' y='258' fontFamily='PingFang SC' fontSize='17' fill='#1A1A1A'&gt;二舅：空腹吃荔枝会得荔枝病，&lt;/text&gt;&#10;        &lt;text x='50' y='286' fontFamily='PingFang SC' fontSize='17' fill='#1A1A1A'&gt;严重的会致死，千万别给孩子吃&lt;/text&gt;&#10;        &lt;text x='50' y='308' fontFamily='PingFang SC' fontSize='13' fill='#A8351A'&gt;转发自「养生每日必读」· 无署名&lt;/text&gt;&#10;&#10;        &lt;rect x='30' y='340' width='556' height='44' rx='10' fill='#F7F5EF' stroke='rgba(63,74,85,0.25)' strokeWidth='1.5' /&gt;&#10;        &lt;text x='50' y='368' fontFamily='PingFang SC' fontSize='15' fill='#3F4A55' opacity='0.55'&gt;这条是真的吗？&lt;/text&gt;&#10;      &lt;/svg&gt;&#10;    &lt;/Box&gt;&#10;&#10;    {/* 右 42% · 三段痛点 */}&#10;    &lt;Box style={{ flex: 1, justifyContent: 'center', gap: 26 }}&gt;&#10;&#10;      &lt;Text style={{ fontFamily: 'Songti SC', fontSize: 26, fontWeight: '600', color: '#1A1A1A', lineHeight: 1.5 }}&gt;&#10;        每天早上&lt;br /&gt;它都在群里等你&#10;      &lt;/Text&gt;&#10;&#10;      &lt;Box style={{ height: 2, background: 'rgba(63,74,85,0.30)' }} /&gt;&#10;&#10;      &lt;Text style={{ fontFamily: 'PingFang SC', fontSize: 20, color: '#3F4A55', lineHeight: 1.7 }}&gt;&#10;        传言跑得比真相快，而且它不问出处、不写日期、不告诉你前提。&#10;      &lt;/Text&gt;&#10;&#10;      &lt;Text style={{ fontFamily: 'PingFang SC', fontSize: 20, color: '#3F4A55', lineHeight: 1.7 }}&gt;&#10;        模型的答案来自训练时的记忆，不是今天的网络；传言的真假，恰恰只写在今天的网络上。&#10;      &lt;/Text&gt;&#10;&#10;      &lt;Box style={{ background: '#FDFCF7', border: '1px solid rgba(26,26,26,0.14)', borderLeft: '4px solid #A8351A', padding: '16px 18px', marginTop: 4 }}&gt;&#10;        &lt;Text style={{ fontFamily: 'PingFang SC', fontSize: 20, color: '#1A1A1A', lineHeight: 1.6 }}&gt;&#10;          所以「去搜」不是加分项，&lt;span style={{ color: '#A8351A', fontWeight: 'bold' }}&gt;是唯一正确的做法&lt;/span&gt;。&#10;        &lt;/Text&gt;&#10;      &lt;/Box&gt;&#10;&#10;    &lt;/Box&gt;&#10;&#10;  &lt;/Box&gt;&#10;&#10;  {/* C · 页脚条 660–700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2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家族群的那条消息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85800" y="1314450"/>
            <a:ext cx="6286500" cy="4972050"/>
          </a:xfrm>
          <a:prstGeom prst="roundRect">
            <a:avLst>
              <a:gd name="adj" fmla="val 766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714500"/>
            <a:ext cx="5867400" cy="4171950"/>
          </a:xfrm>
          <a:prstGeom prst="rect">
            <a:avLst/>
          </a:prstGeom>
          <a:ln/>
        </p:spPr>
      </p:pic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353300" y="1533525"/>
            <a:ext cx="41529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A1A1A"/>
                </a:solidFill>
                <a:latin typeface="Songti SC"/>
                <a:ea typeface="Songti SC"/>
              </a:rPr>
              <a:t>每天早上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1A1A1A"/>
                </a:solidFill>
                <a:latin typeface="Songti SC"/>
                <a:ea typeface="Songti SC"/>
              </a:rPr>
              <a:t>它都在群里等你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353300" y="2676525"/>
            <a:ext cx="41529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353300" y="2943225"/>
            <a:ext cx="41529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3F4A55"/>
                </a:solidFill>
                <a:latin typeface="PingFang SC"/>
                <a:ea typeface="PingFang SC"/>
              </a:rPr>
              <a:t>传言跑得比真相快，而且它不问出处、不写日期、不告诉你前提。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353300" y="3971925"/>
            <a:ext cx="41529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3F4A55"/>
                </a:solidFill>
                <a:latin typeface="PingFang SC"/>
                <a:ea typeface="PingFang SC"/>
              </a:rPr>
              <a:t>模型的答案来自训练时的记忆，不是今天的网络；传言的真假，恰恰只写在今天的网络上。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391400" y="5038725"/>
            <a:ext cx="4152900" cy="1038225"/>
          </a:xfrm>
          <a:prstGeom prst="rect">
            <a:avLst/>
          </a:prstGeom>
          <a:solidFill>
            <a:srgbClr val="FDFCF7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7353300" y="5038725"/>
            <a:ext cx="4191000" cy="1038225"/>
          </a:xfrm>
          <a:custGeom>
            <a:pathLst>
              <a:path w="440" h="109">
                <a:moveTo>
                  <a:pt x="0" y="0"/>
                </a:moveTo>
                <a:lnTo>
                  <a:pt x="4" y="0"/>
                </a:lnTo>
                <a:lnTo>
                  <a:pt x="4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562850" y="5191125"/>
            <a:ext cx="37719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A1A1A"/>
                </a:solidFill>
                <a:latin typeface="PingFang SC"/>
                <a:ea typeface="PingFang SC"/>
              </a:rPr>
              <a:t>所以「去搜」不是加分项，</a:t>
            </a:r>
            <a:r>
              <a:rPr lang="zh-CN" sz="1500" b="1">
                <a:solidFill>
                  <a:srgbClr val="A8351A"/>
                </a:solidFill>
                <a:latin typeface="PingFang SC"/>
                <a:ea typeface="PingFang SC"/>
              </a:rPr>
              <a:t>是唯一正确的做法</a:t>
            </a:r>
            <a:r>
              <a:rPr lang="zh-CN" sz="1500">
                <a:solidFill>
                  <a:srgbClr val="1A1A1A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1156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02 / 12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3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不整段下结论，拆开查&#10;    &lt;/Text&gt;&#10;  &lt;/Box&gt;&#10;&#10;  {/* B · 内容区 非对称双栏 65:35 */}&#10;  &lt;Box style={{ height: 540, flexDirection: 'row', gap: 36, paddingTop: 14 }}&gt;&#10;&#10;    {/* 左 65% · L1 拆解流程图 + 三印章 */}&#10;    &lt;Box style={{ width: 700, background: '#FDFCF7', border: '1px solid rgba(26,26,26,0.14)', borderRadius: 4, padding: '18px 20px' }}&gt;&#10;      &lt;svg width={660} height={498} viewBox='0 0 660 498'&gt;&#10;&#10;        {/* 顶部：原话 */}&#10;        &lt;rect x='20' y='18' width='620' height='62' rx='4' fill='#F4F1E9' stroke='#1A1A1A' strokeWidth='1.5' /&gt;&#10;        &lt;text x='40' y='44' fontFamily='PingFang SC' fontSize='13' fill='#3F4A55' letterSpacing='2'&gt;原话 · 来自家族群&lt;/text&gt;&#10;        &lt;text x='40' y='68' fontFamily='Songti SC' fontSize='20' fill='#1A1A1A'&gt;空腹吃荔枝会得荔枝病，严重的会致死&lt;/text&gt;&#10;&#10;        {/* 拆解箭头 */}&#10;        &lt;line x1='330' y1='80' x2='330' y2='112' stroke='#3F4A55' strokeWidth='2' /&gt;&#10;        &lt;path d='M326 106 L330 114 L334 106' fill='none' stroke='#3F4A55' strokeWidth='2' /&gt;&#10;        &lt;text x='344' y='104' fontFamily='PingFang SC' fontSize='13' fill='#3F4A55' letterSpacing='1'&gt;拆成 3 条可独立验证的线索&lt;/text&gt;&#10;&#10;        {/* 线索 1 */}&#10;        &lt;rect x='20' y='124' width='620' height='96' rx='4' fill='#FFFFFF' stroke='rgba(26,26,26,0.14)' strokeWidth='1.5' /&gt;&#10;        &lt;rect x='20' y='124' width='4' height='96' fill='#3F4A55' /&gt;&#10;        &lt;text x='42' y='158' fontFamily='PingFang SC' fontSize='13' fill='#3F4A55'&gt;线索 01&lt;/text&gt;&#10;        &lt;text x='42' y='186' fontFamily='Songti SC' fontSize='19' fill='#1A1A1A'&gt;存在「荔枝病」这种急性低血糖症&lt;/text&gt;&#10;        &lt;text x='42' y='208' fontFamily='PingFang SC' fontSize='14' fill='#3F4A55'&gt;疾控 / 柳叶刀 / 科普中国 三方一致&lt;/text&gt;&#10;        &lt;circle cx='588' cy='172' r='38' fill='rgba(46,107,79,0.08)' stroke='#2E6B4F' strokeWidth='4' /&gt;&#10;        &lt;circle cx='588' cy='172' r='32' fill='none' stroke='#2E6B4F' strokeWidth='1.5' /&gt;&#10;        &lt;text x='588' y='182' textAnchor='middle' fontFamily='Songti SC' fontSize='26' fontWeight='bold' fill='#2E6B4F'&gt;属实&lt;/text&gt;&#10;&#10;        {/* 线索 2 */}&#10;        &lt;rect x='20' y='236' width='620' height='96' rx='4' fill='#FFFFFF' stroke='rgba(26,26,26,0.14)' strokeWidth='1.5' /&gt;&#10;        &lt;rect x='20' y='236' width='4' height='96' fill='#3F4A55' /&gt;&#10;        &lt;text x='42' y='270' fontFamily='PingFang SC' fontSize='13' fill='#3F4A55'&gt;线索 02&lt;/text&gt;&#10;        &lt;text x='42' y='298' fontFamily='Songti SC' fontSize='19' fill='#1A1A1A'&gt;儿童是高危人群&lt;/text&gt;&#10;        &lt;text x='42' y='320' fontFamily='PingFang SC' fontSize='14' fill='#3F4A55'&gt;病例集中在 2—10 岁，证据一致&lt;/text&gt;&#10;        &lt;circle cx='588' cy='284' r='38' fill='rgba(46,107,79,0.08)' stroke='#2E6B4F' strokeWidth='4' /&gt;&#10;        &lt;circle cx='588' cy='284' r='32' fill='none' stroke='#2E6B4F' strokeWidth='1.5' /&gt;&#10;        &lt;text x='588' y='294' textAnchor='middle' fontFamily='Songti SC' fontSize='26' fontWeight='bold' fill='#2E6B4F'&gt;属实&lt;/text&gt;&#10;&#10;        {/* 线索 3 */}&#10;        &lt;rect x='20' y='348' width='620' height='96' rx='4' fill='#FFFFFF' stroke='rgba(26,26,26,0.14)' strokeWidth='1.5' /&gt;&#10;        &lt;rect x='20' y='348' width='4' height='96' fill='#A8351A' /&gt;&#10;        &lt;text x='42' y='382' fontFamily='PingFang SC' fontSize='13' fill='#3F4A55'&gt;线索 03&lt;/text&gt;&#10;        &lt;text x='42' y='410' fontFamily='Songti SC' fontSize='19' fill='#1A1A1A'&gt;吃几颗荔枝就会致死&lt;/text&gt;&#10;        &lt;text x='42' y='432' fontFamily='PingFang SC' fontSize='14' fill='#3F4A55'&gt;删掉了「空腹 + 大量 + 未成熟」三个前提&lt;/text&gt;&#10;        &lt;circle cx='588' cy='396' r='38' fill='rgba(168,53,26,0.08)' stroke='#A8351A' strokeWidth='4' /&gt;&#10;        &lt;circle cx='588' cy='396' r='32' fill='none' stroke='#A8351A' strokeWidth='1.5' /&gt;&#10;        &lt;text x='588' y='406' textAnchor='middle' fontFamily='Songti SC' fontSize='26' fontWeight='bold' fill='#A8351A'&gt;不实&lt;/text&gt;&#10;&#10;        {/* 总章 */}&#10;        &lt;rect x='20' y='460' width='620' height='26' rx='3' fill='rgba(182,105,14,0.10)' /&gt;&#10;        &lt;text x='40' y='479' fontFamily='PingFang SC' fontSize='14' fill='#B6690E'&gt;总章：部分属实 · 夸大 —— 判断来自三条线索的加权，不是对整句话的印象&lt;/text&gt;&#10;      &lt;/svg&gt;&#10;    &lt;/Box&gt;&#10;&#10;    {/* 右 35% · 说明 */}&#10;    &lt;Box style={{ flex: 1, justifyContent: 'center', gap: 22 }}&gt;&#10;      &lt;Text style={{ fontFamily: 'Songti SC', fontSize: 27, fontWeight: '600', color: '#1A1A1A', lineHeight: 1.45 }}&gt;&#10;        同一句话&lt;br /&gt;真的和假的&lt;br /&gt;分开盖章&#10;      &lt;/Text&gt;&#10;      &lt;Box style={{ height: 2, background: 'rgba(63,74,85,0.30)' }} /&gt;&#10;      &lt;Text style={{ fontFamily: 'PingFang SC', fontSize: 19, color: '#3F4A55', lineHeight: 1.7 }}&gt;&#10;        整段回答&quot;真的假的&quot;，必然误判——这句话里确实有真的部分。&#10;      &lt;/Text&gt;&#10;      &lt;Text style={{ fontFamily: 'PingFang SC', fontSize: 19, color: '#3F4A55', lineHeight: 1.7 }}&gt;&#10;        先拆成可以单独查的断言，再逐条去搜、逐条盖章，结论才站得住。&#10;      &lt;/Text&gt;&#10;      &lt;Box style={{ background: '#FDFCF7', border: '1px solid rgba(26,26,26,0.14)', borderLeft: '4px solid #A8351A', padding: '14px 16px' }}&gt;&#10;        &lt;Text style={{ fontFamily: 'PingFang SC', fontSize: 18, color: '#1A1A1A', lineHeight: 1.6 }}&gt;&#10;          这是本作品与普通 AI 问答的&lt;span style={{ color: '#A8351A', fontWeight: 'bold' }}&gt;分水岭&lt;/span&gt;。&#10;        &lt;/Text&gt;&#10;      &lt;/Box&gt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3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不整段下结论，拆开查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85800" y="1276350"/>
            <a:ext cx="6667500" cy="5086350"/>
          </a:xfrm>
          <a:prstGeom prst="roundRect">
            <a:avLst>
              <a:gd name="adj" fmla="val 749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447800"/>
            <a:ext cx="6286500" cy="4743450"/>
          </a:xfrm>
          <a:prstGeom prst="rect">
            <a:avLst/>
          </a:prstGeom>
          <a:ln/>
        </p:spPr>
      </p:pic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696200" y="1638300"/>
            <a:ext cx="3810000" cy="1343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1A1A1A"/>
                </a:solidFill>
                <a:latin typeface="Songti SC"/>
                <a:ea typeface="Songti SC"/>
              </a:rPr>
              <a:t>同一句话</a:t>
            </a:r>
            <a:endParaRPr/>
          </a:p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1A1A1A"/>
                </a:solidFill>
                <a:latin typeface="Songti SC"/>
                <a:ea typeface="Songti SC"/>
              </a:rPr>
              <a:t>真的和假的</a:t>
            </a:r>
            <a:endParaRPr/>
          </a:p>
          <a:p>
            <a:pPr>
              <a:lnSpc>
                <a:spcPct val="145000"/>
              </a:lnSpc>
            </a:pPr>
            <a:r>
              <a:rPr lang="zh-CN" sz="2025" b="1">
                <a:solidFill>
                  <a:srgbClr val="1A1A1A"/>
                </a:solidFill>
                <a:latin typeface="Songti SC"/>
                <a:ea typeface="Songti SC"/>
              </a:rPr>
              <a:t>分开盖章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696200" y="3190875"/>
            <a:ext cx="38100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696200" y="3419475"/>
            <a:ext cx="38100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整段回答</a:t>
            </a:r>
            <a:r>
              <a:rPr lang="en-US" sz="1425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真的假的</a:t>
            </a:r>
            <a:r>
              <a:rPr lang="en-US" sz="1425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，必然误判——这句话里确实有真的部分。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696200" y="4371975"/>
            <a:ext cx="38100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先拆成可以单独查的断言，再逐条去搜、逐条盖章，结论才站得住。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734300" y="5324475"/>
            <a:ext cx="3810000" cy="600075"/>
          </a:xfrm>
          <a:prstGeom prst="rect">
            <a:avLst/>
          </a:prstGeom>
          <a:solidFill>
            <a:srgbClr val="FDFCF7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7696200" y="5324475"/>
            <a:ext cx="3848100" cy="600075"/>
          </a:xfrm>
          <a:custGeom>
            <a:pathLst>
              <a:path w="404" h="63">
                <a:moveTo>
                  <a:pt x="0" y="0"/>
                </a:moveTo>
                <a:lnTo>
                  <a:pt x="4" y="0"/>
                </a:lnTo>
                <a:lnTo>
                  <a:pt x="4" y="63"/>
                </a:lnTo>
                <a:lnTo>
                  <a:pt x="0" y="63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86700" y="5457825"/>
            <a:ext cx="3467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1A1A"/>
                </a:solidFill>
                <a:latin typeface="PingFang SC"/>
                <a:ea typeface="PingFang SC"/>
              </a:rPr>
              <a:t>这是本作品与普通</a:t>
            </a:r>
            <a:r>
              <a:rPr lang="en-US" sz="1350">
                <a:solidFill>
                  <a:srgbClr val="1A1A1A"/>
                </a:solidFill>
                <a:latin typeface="PingFang SC"/>
                <a:ea typeface="PingFang SC"/>
              </a:rPr>
              <a:t> AI </a:t>
            </a:r>
            <a:r>
              <a:rPr lang="zh-CN" sz="1350">
                <a:solidFill>
                  <a:srgbClr val="1A1A1A"/>
                </a:solidFill>
                <a:latin typeface="PingFang SC"/>
                <a:ea typeface="PingFang SC"/>
              </a:rPr>
              <a:t>问答的</a:t>
            </a:r>
            <a:r>
              <a:rPr lang="zh-CN" sz="1350" b="1">
                <a:solidFill>
                  <a:srgbClr val="A8351A"/>
                </a:solidFill>
                <a:latin typeface="PingFang SC"/>
                <a:ea typeface="PingFang SC"/>
              </a:rPr>
              <a:t>分水岭</a:t>
            </a:r>
            <a:r>
              <a:rPr lang="zh-CN" sz="1350">
                <a:solidFill>
                  <a:srgbClr val="1A1A1A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156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03 / 12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8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四档结论，含「不知道」&#10;    &lt;/Text&gt;&#10;  &lt;/Box&gt;&#10;&#10;  {/* B · 四卡横排 */}&#10;  &lt;Box style={{ height: 540, flexDirection: 'row', gap: 16, paddingTop: 14 }}&gt;&#10;&#10;    {/* 卡 1 · 属实 */}&#10;    &lt;Box style={{ flex: 1, background: '#FDFCF7', border: '1px solid rgba(26,26,26,0.14)', borderRadius: 4, padding: '18px 16px', justifyContent: 'space-between' }}&gt;&#10;      &lt;Box style={{ alignItems: 'center' }}&gt;&#10;        &lt;svg width={104} height={104} viewBox='0 0 120 120'&gt;&#10;          &lt;circle cx='60' cy='60' r='54' fill='rgba(46,107,79,0.08)' stroke='#2E6B4F' strokeWidth='4' /&gt;&#10;          &lt;circle cx='60' cy='60' r='46' fill='none' stroke='#2E6B4F' strokeWidth='1.5' /&gt;&#10;          &lt;text x='60' y='72' textAnchor='middle' fontFamily='Songti SC' fontSize='34' fontWeight='bold' fill='#2E6B4F'&gt;属实&lt;/text&gt;&#10;        &lt;/svg&gt;&#10;      &lt;/Box&gt;&#10;      &lt;Text style={{ fontFamily: 'Songti SC', fontSize: 25, fontWeight: '600', color: '#1A1A1A', textAlign: 'center', marginTop: 14 }}&gt;&#10;        属实&#10;      &lt;/Text&gt;&#10;      &lt;Text style={{ fontFamily: 'PingFang SC', fontSize: 17, color: '#3F4A55', lineHeight: 1.65, marginTop: 12 }}&gt;&#10;        多个彼此独立的权威来源口径一致，且没有发现可信的反证。这一档可以放心采信，直接照着做。&#10;      &lt;/Text&gt;&#10;      &lt;Box style={{ borderTop: '1px dashed rgba(63,74,85,0.30)', paddingTop: 10, marginTop: 'auto' }}&gt;&#10;        &lt;Text style={{ fontFamily: 'PingFang SC', fontSize: 14, color: '#2E6B4F' }}&gt;判定依据 ≥ 2 个独立权威来源&lt;/Text&gt;&#10;      &lt;/Box&gt;&#10;    &lt;/Box&gt;&#10;&#10;    {/* 卡 2 · 不实 */}&#10;    &lt;Box style={{ flex: 1, background: '#FDFCF7', border: '1px solid rgba(26,26,26,0.14)', borderRadius: 4, padding: '18px 16px', justifyContent: 'space-between' }}&gt;&#10;      &lt;Box style={{ alignItems: 'center' }}&gt;&#10;        &lt;svg width={104} height={104} viewBox='0 0 120 120'&gt;&#10;          &lt;circle cx='60' cy='60' r='54' fill='rgba(168,53,26,0.08)' stroke='#A8351A' strokeWidth='4' /&gt;&#10;          &lt;circle cx='60' cy='60' r='46' fill='none' stroke='#A8351A' strokeWidth='1.5' /&gt;&#10;          &lt;text x='60' y='72' textAnchor='middle' fontFamily='Songti SC' fontSize='34' fontWeight='bold' fill='#A8351A'&gt;不实&lt;/text&gt;&#10;        &lt;/svg&gt;&#10;      &lt;/Box&gt;&#10;      &lt;Text style={{ fontFamily: 'Songti SC', fontSize: 25, fontWeight: '600', color: '#1A1A1A', textAlign: 'center', marginTop: 14 }}&gt;&#10;        不实&#10;      &lt;/Text&gt;&#10;      &lt;Text style={{ fontFamily: 'PingFang SC', fontSize: 17, color: '#3F4A55', lineHeight: 1.65, marginTop: 12 }}&gt;&#10;        权威来源明确否定，或者原话被删掉了关键前提——把剂量、范围、条件拿掉再传播，就是典型的夸大。&#10;      &lt;/Text&gt;&#10;      &lt;Box style={{ borderTop: '1px dashed rgba(63,74,85,0.30)', paddingTop: 10, marginTop: 'auto' }}&gt;&#10;        &lt;Text style={{ fontFamily: 'PingFang SC', fontSize: 14, color: '#A8351A' }}&gt;常见形态：真骨架 + 假前提&lt;/Text&gt;&#10;      &lt;/Box&gt;&#10;    &lt;/Box&gt;&#10;&#10;    {/* 卡 3 · 部分属实 */}&#10;    &lt;Box style={{ flex: 1, background: '#FDFCF7', border: '1px solid rgba(26,26,26,0.14)', borderRadius: 4, padding: '18px 16px', justifyContent: 'space-between' }}&gt;&#10;      &lt;Box style={{ alignItems: 'center' }}&gt;&#10;        &lt;svg width={104} height={104} viewBox='0 0 120 120'&gt;&#10;          &lt;circle cx='60' cy='60' r='54' fill='rgba(182,105,14,0.10)' stroke='#B6690E' strokeWidth='4' /&gt;&#10;          &lt;circle cx='60' cy='60' r='46' fill='none' stroke='#B6690E' strokeWidth='1.5' /&gt;&#10;          &lt;text x='60' y='66' textAnchor='middle' fontFamily='Songti SC' fontSize='30' fontWeight='bold' fill='#B6690E'&gt;部分&lt;/text&gt;&#10;          &lt;text x='60' y='96' textAnchor='middle' fontFamily='Songti SC' fontSize='30' fontWeight='bold' fill='#B6690E'&gt;属实&lt;/text&gt;&#10;        &lt;/svg&gt;&#10;      &lt;/Box&gt;&#10;      &lt;Text style={{ fontFamily: 'Songti SC', fontSize: 25, fontWeight: '600', color: '#1A1A1A', textAlign: 'center', marginTop: 14 }}&gt;&#10;        部分属实&#10;      &lt;/Text&gt;&#10;      &lt;Text style={{ fontFamily: 'PingFang SC', fontSize: 17, color: '#3F4A55', lineHeight: 1.65, marginTop: 12 }}&gt;&#10;        事实骨架是真的，但剂量、范围或程度被放大了。这也是传言最难对付的一种——它确实有一半是真的。&#10;      &lt;/Text&gt;&#10;      &lt;Box style={{ borderTop: '1px dashed rgba(63,74,85,0.30)', paddingTop: 10, marginTop: 'auto' }}&gt;&#10;        &lt;Text style={{ fontFamily: 'PingFang SC', fontSize: 14, color: '#B6690E' }}&gt;必须写出「夸在哪」&lt;/Text&gt;&#10;      &lt;/Box&gt;&#10;    &lt;/Box&gt;&#10;&#10;    {/* 卡 4 · 查无实据 */}&#10;    &lt;Box style={{ flex: 1, background: '#FDFCF7', border: '2px solid #A8351A', borderRadius: 4, padding: '18px 16px', justifyContent: 'space-between' }}&gt;&#10;      &lt;Box style={{ alignItems: 'center' }}&gt;&#10;        &lt;svg width={104} height={104} viewBox='0 0 120 120'&gt;&#10;          &lt;circle cx='60' cy='60' r='54' fill='rgba(63,74,85,0.10)' stroke='#3F4A55' strokeWidth='4' /&gt;&#10;          &lt;circle cx='60' cy='60' r='46' fill='none' stroke='#3F4A55' strokeWidth='1.5' /&gt;&#10;          &lt;text x='60' y='72' textAnchor='middle' fontFamily='Songti SC' fontSize='30' fontWeight='bold' fill='#3F4A55'&gt;查无&lt;/text&gt;&#10;          &lt;text x='60' y='98' textAnchor='middle' fontFamily='Songti SC' fontSize='30' fontWeight='bold' fill='#3F4A55'&gt;实据&lt;/text&gt;&#10;        &lt;/svg&gt;&#10;      &lt;/Box&gt;&#10;      &lt;Text style={{ fontFamily: 'Songti SC', fontSize: 25, fontWeight: '600', color: '#A8351A', textAlign: 'center', marginTop: 14 }}&gt;&#10;        查无实据&#10;      &lt;/Text&gt;&#10;      &lt;Text style={{ fontFamily: 'PingFang SC', fontSize: 17, color: '#3F4A55', lineHeight: 1.65, marginTop: 12 }}&gt;&#10;        证据不够，就明确说不知道，并把本该执行的检索式原样列出来给你看。这一档不是兜底，是规矩。&#10;      &lt;/Text&gt;&#10;      &lt;Box style={{ borderTop: '1px dashed rgba(63,74,85,0.30)', paddingTop: 10, marginTop: 'auto' }}&gt;&#10;        &lt;Text style={{ fontFamily: 'PingFang SC', fontSize: 14, color: '#A8351A', fontWeight: 'bold' }}&gt;宁可说不知道，也不编一个像真的答案&lt;/Text&gt;&#10;      &lt;/Box&gt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4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四档结论，含「不知道」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85800" y="1276350"/>
            <a:ext cx="2590800" cy="5010150"/>
          </a:xfrm>
          <a:prstGeom prst="roundRect">
            <a:avLst>
              <a:gd name="adj" fmla="val 1471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85900" y="1447800"/>
            <a:ext cx="990600" cy="99060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38200" y="2571750"/>
            <a:ext cx="2286000" cy="285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Songti SC"/>
                <a:ea typeface="Songti SC"/>
              </a:rPr>
              <a:t>属实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2971800"/>
            <a:ext cx="2286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F4A55"/>
                </a:solidFill>
                <a:latin typeface="PingFang SC"/>
                <a:ea typeface="PingFang SC"/>
              </a:rPr>
              <a:t>多个彼此独立的权威来源口径一致，且没有发现可信的反证。这一档可以放心采信，直接照着做。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38200" y="5848350"/>
            <a:ext cx="2286000" cy="276225"/>
          </a:xfrm>
          <a:custGeom>
            <a:pathLst>
              <a:path w="240" h="29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95312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E6B4F"/>
                </a:solidFill>
                <a:latin typeface="PingFang SC"/>
                <a:ea typeface="PingFang SC"/>
              </a:rPr>
              <a:t>判定依据</a:t>
            </a:r>
            <a:r>
              <a:rPr lang="en-US" sz="1050">
                <a:solidFill>
                  <a:srgbClr val="2E6B4F"/>
                </a:solidFill>
                <a:latin typeface="PingFang SC"/>
                <a:ea typeface="PingFang SC"/>
              </a:rPr>
              <a:t> ≥ 2 </a:t>
            </a:r>
            <a:r>
              <a:rPr lang="zh-CN" sz="1050">
                <a:solidFill>
                  <a:srgbClr val="2E6B4F"/>
                </a:solidFill>
                <a:latin typeface="PingFang SC"/>
                <a:ea typeface="PingFang SC"/>
              </a:rPr>
              <a:t>个独立权威来源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429000" y="1276350"/>
            <a:ext cx="2590800" cy="5010150"/>
          </a:xfrm>
          <a:prstGeom prst="roundRect">
            <a:avLst>
              <a:gd name="adj" fmla="val 1471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29100" y="1447800"/>
            <a:ext cx="990600" cy="99060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581400" y="2571750"/>
            <a:ext cx="2286000" cy="285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Songti SC"/>
                <a:ea typeface="Songti SC"/>
              </a:rPr>
              <a:t>不实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581400" y="2971800"/>
            <a:ext cx="2286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F4A55"/>
                </a:solidFill>
                <a:latin typeface="PingFang SC"/>
                <a:ea typeface="PingFang SC"/>
              </a:rPr>
              <a:t>权威来源明确否定，或者原话被删掉了关键前提——把剂量、范围、条件拿掉再传播，就是典型的夸大。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581400" y="5848350"/>
            <a:ext cx="2286000" cy="276225"/>
          </a:xfrm>
          <a:custGeom>
            <a:pathLst>
              <a:path w="240" h="29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581400" y="595312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8351A"/>
                </a:solidFill>
                <a:latin typeface="PingFang SC"/>
                <a:ea typeface="PingFang SC"/>
              </a:rPr>
              <a:t>常见形态：真骨架</a:t>
            </a:r>
            <a:r>
              <a:rPr lang="en-US" sz="1050">
                <a:solidFill>
                  <a:srgbClr val="A8351A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A8351A"/>
                </a:solidFill>
                <a:latin typeface="PingFang SC"/>
                <a:ea typeface="PingFang SC"/>
              </a:rPr>
              <a:t>假前提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172200" y="1276350"/>
            <a:ext cx="2590800" cy="5010150"/>
          </a:xfrm>
          <a:prstGeom prst="roundRect">
            <a:avLst>
              <a:gd name="adj" fmla="val 1471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72300" y="1447800"/>
            <a:ext cx="990600" cy="9906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24600" y="2571750"/>
            <a:ext cx="2286000" cy="285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Songti SC"/>
                <a:ea typeface="Songti SC"/>
              </a:rPr>
              <a:t>部分属实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24600" y="2971800"/>
            <a:ext cx="2286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F4A55"/>
                </a:solidFill>
                <a:latin typeface="PingFang SC"/>
                <a:ea typeface="PingFang SC"/>
              </a:rPr>
              <a:t>事实骨架是真的，但剂量、范围或程度被放大了。这也是传言最难对付的一种——它确实有一半是真的。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324600" y="5848350"/>
            <a:ext cx="2286000" cy="276225"/>
          </a:xfrm>
          <a:custGeom>
            <a:pathLst>
              <a:path w="240" h="29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324600" y="595312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6690E"/>
                </a:solidFill>
                <a:latin typeface="PingFang SC"/>
                <a:ea typeface="PingFang SC"/>
              </a:rPr>
              <a:t>必须写出「夸在哪」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915400" y="1276350"/>
            <a:ext cx="2590800" cy="5010150"/>
          </a:xfrm>
          <a:prstGeom prst="roundRect">
            <a:avLst>
              <a:gd name="adj" fmla="val 1471"/>
            </a:avLst>
          </a:prstGeom>
          <a:solidFill>
            <a:srgbClr val="FDFCF7"/>
          </a:solidFill>
          <a:ln w="25400">
            <a:solidFill>
              <a:srgbClr val="A8351A"/>
            </a:solidFill>
            <a:prstDash val="solid"/>
          </a:ln>
        </p:spPr>
        <p:txBody>
          <a:bodyPr/>
          <a:p/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715500" y="1447800"/>
            <a:ext cx="990600" cy="99060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067800" y="2571750"/>
            <a:ext cx="2286000" cy="285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75" b="1">
                <a:solidFill>
                  <a:srgbClr val="A8351A"/>
                </a:solidFill>
                <a:latin typeface="Songti SC"/>
                <a:ea typeface="Songti SC"/>
              </a:rPr>
              <a:t>查无实据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067800" y="2971800"/>
            <a:ext cx="2286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F4A55"/>
                </a:solidFill>
                <a:latin typeface="PingFang SC"/>
                <a:ea typeface="PingFang SC"/>
              </a:rPr>
              <a:t>证据不够，就明确说不知道，并把本该执行的检索式原样列出来给你看。这一档不是兜底，是规矩。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067800" y="5848350"/>
            <a:ext cx="2286000" cy="276225"/>
          </a:xfrm>
          <a:custGeom>
            <a:pathLst>
              <a:path w="240" h="29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067800" y="595312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351A"/>
                </a:solidFill>
                <a:latin typeface="PingFang SC"/>
                <a:ea typeface="PingFang SC"/>
              </a:rPr>
              <a:t>宁可说不知道，也不编一个像真的答案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156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04 / 12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38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主动去找反方&#10;    &lt;/Text&gt;&#10;  &lt;/Box&gt;&#10;&#10;  {/* B · 左标题 + 右内容 */}&#10;  &lt;Box style={{ height: 540, flexDirection: 'row', gap: 36, paddingTop: 14 }}&gt;&#10;&#10;    {/* 左 38% 窄标题栏 */}&#10;    &lt;Box style={{ width: 400, justifyContent: 'center', gap: 20 }}&gt;&#10;      &lt;Text style={{ fontFamily: 'Songti SC', fontSize: 30, fontWeight: '600', color: '#1A1A1A', lineHeight: 1.45 }}&gt;&#10;        只搜正向&lt;br /&gt;会越搜越信&#10;      &lt;/Text&gt;&#10;      &lt;Box style={{ height: 2, background: 'rgba(63,74,85,0.30)' }} /&gt;&#10;      &lt;Text style={{ fontFamily: 'PingFang SC', fontSize: 18, color: '#3F4A55', lineHeight: 1.7 }}&gt;&#10;        拿原话去搜，搜到的多半是转述同一个说法的页面——它们互相印证，却都不是证据。&#10;      &lt;/Text&gt;&#10;      &lt;Text style={{ fontFamily: 'PingFang SC', fontSize: 18, color: '#3F4A55', lineHeight: 1.7 }}&gt;&#10;        所以每条线索强制跑四组检索式，其中一组专门去&lt;span style={{ color: '#A8351A', fontWeight: 'bold' }}&gt;找反方&lt;/span&gt;。&#10;      &lt;/Text&gt;&#10;      &lt;Box style={{ background: '#FDFCF7', border: '1px solid rgba(26,26,26,0.14)', borderLeft: '4px solid #A8351A', padding: '14px 16px' }}&gt;&#10;        &lt;Text style={{ fontFamily: 'PingFang SC', fontSize: 17, color: '#1A1A1A', lineHeight: 1.6 }}&gt;&#10;          反方查不到，才叫核验通过；查得到，就按证据改结论。&#10;        &lt;/Text&gt;&#10;      &lt;/Box&gt;&#10;    &lt;/Box&gt;&#10;&#10;    {/* 右 62% 检索式 + 分级 */}&#10;    &lt;Box style={{ flex: 1, gap: 14, justifyContent: 'center' }}&gt;&#10;&#10;      {/* 检索式条 1 */}&#10;      &lt;Box style={{ flexDirection: 'row', alignItems: 'center', background: '#FDFCF7', border: '1px solid rgba(26,26,26,0.14)', borderRadius: 3, padding: '13px 16px', gap: 14 }}&gt;&#10;        &lt;Box style={{ width: 4, height: 34, background: '#3F4A55' }} /&gt;&#10;        &lt;Box style={{ flex: 1 }}&gt;&#10;          &lt;Text style={{ fontFamily: 'PingFang SC', fontSize: 13, color: '#3F4A55', letterSpacing: 1 }}&gt;① 正向求证&lt;/Text&gt;&#10;          &lt;Text style={{ fontFamily: 'PingFang SC', fontSize: 17, color: '#1A1A1A', marginTop: 3 }}&gt;空腹吃荔枝会得荔枝病，严重的会致死&lt;/Text&gt;&#10;        &lt;/Box&gt;&#10;      &lt;/Box&gt;&#10;&#10;      {/* 检索式条 2 */}&#10;      &lt;Box style={{ flexDirection: 'row', alignItems: 'center', background: '#FDFCF7', border: '1px solid rgba(26,26,26,0.14)', borderRadius: 3, padding: '13px 16px', gap: 14 }}&gt;&#10;        &lt;Box style={{ width: 4, height: 34, background: '#3F4A55' }} /&gt;&#10;        &lt;Box style={{ flex: 1 }}&gt;&#10;          &lt;Text style={{ fontFamily: 'PingFang SC', fontSize: 13, color: '#3F4A55', letterSpacing: 1 }}&gt;② 质疑式反问&lt;/Text&gt;&#10;          &lt;Text style={{ fontFamily: 'PingFang SC', fontSize: 17, color: '#1A1A1A', marginTop: 3 }}&gt;空腹吃荔枝会得荔枝病，是真的吗&lt;/Text&gt;&#10;        &lt;/Box&gt;&#10;      &lt;/Box&gt;&#10;&#10;      {/* 检索式条 3 · 朱砂高亮 */}&#10;      &lt;Box style={{ flexDirection: 'row', alignItems: 'center', background: 'rgba(168,53,26,0.07)', border: '2px solid #A8351A', borderRadius: 3, padding: '13px 16px', gap: 14 }}&gt;&#10;        &lt;Box style={{ width: 4, height: 34, background: '#A8351A' }} /&gt;&#10;        &lt;Box style={{ flex: 1 }}&gt;&#10;          &lt;Text style={{ fontFamily: 'PingFang SC', fontSize: 13, color: '#A8351A', letterSpacing: 1, fontWeight: 'bold' }}&gt;③ 反向举证&lt;/Text&gt;&#10;          &lt;Text style={{ fontFamily: 'PingFang SC', fontSize: 17, color: '#1A1A1A', marginTop: 3 }}&gt;空腹吃荔枝 荔枝病 辟谣 谣言&lt;/Text&gt;&#10;        &lt;/Box&gt;&#10;      &lt;/Box&gt;&#10;&#10;      {/* 检索式条 4 */}&#10;      &lt;Box style={{ flexDirection: 'row', alignItems: 'center', background: '#FDFCF7', border: '1px solid rgba(26,26,26,0.14)', borderRadius: 3, padding: '13px 16px', gap: 14 }}&gt;&#10;        &lt;Box style={{ width: 4, height: 34, background: '#3F4A55' }} /&gt;&#10;        &lt;Box style={{ flex: 1 }}&gt;&#10;          &lt;Text style={{ fontFamily: 'PingFang SC', fontSize: 13, color: '#3F4A55', letterSpacing: 1 }}&gt;④ 权威溯源&lt;/Text&gt;&#10;          &lt;Text style={{ fontFamily: 'PingFang SC', fontSize: 17, color: '#1A1A1A', marginTop: 3 }}&gt;荔枝病 官方 权威机构 说法&lt;/Text&gt;&#10;        &lt;/Box&gt;&#10;      &lt;/Box&gt;&#10;&#10;      {/* 来源分级 */}&#10;      &lt;Box style={{ background: '#FFFFFF', border: '1px solid rgba(26,26,26,0.14)', borderRadius: 3, padding: '14px 16px', marginTop: 4 }}&gt;&#10;        &lt;Text style={{ fontFamily: 'PingFang SC', fontSize: 13, color: '#3F4A55', letterSpacing: 2, marginBottom: 10 }}&gt;来源按可信度分级 · 交叉比对的依据&lt;/Text&gt;&#10;        &lt;Box style={{ flexDirection: 'row', gap: 10 }}&gt;&#10;          &lt;Box style={{ flex: 1, background: 'rgba(46,107,79,0.10)', padding: '8px 6px', alignItems: 'center' }}&gt;&#10;            &lt;Text style={{ fontFamily: 'PingFang SC', fontSize: 14, color: '#2E6B4F', fontWeight: 'bold' }}&gt;T1 官方机构&lt;/Text&gt;&#10;            &lt;Text style={{ fontFamily: 'PingFang SC', fontSize: 12, color: '#3F4A55', marginTop: 2 }}&gt;疾控 / 卫健委&lt;/Text&gt;&#10;          &lt;/Box&gt;&#10;          &lt;Box style={{ flex: 1, background: 'rgba(63,74,85,0.10)', padding: '8px 6px', alignItems: 'center' }}&gt;&#10;            &lt;Text style={{ fontFamily: 'PingFang SC', fontSize: 14, color: '#3F4A55', fontWeight: 'bold' }}&gt;T2 权威媒体&lt;/Text&gt;&#10;            &lt;Text style={{ fontFamily: 'PingFang SC', fontSize: 12, color: '#3F4A55', marginTop: 2 }}&gt;学术 / 主流媒体&lt;/Text&gt;&#10;          &lt;/Box&gt;&#10;          &lt;Box style={{ flex: 1, background: 'rgba(182,105,14,0.12)', padding: '8px 6px', alignItems: 'center' }}&gt;&#10;            &lt;Text style={{ fontFamily: 'PingFang SC', fontSize: 14, color: '#B6690E', fontWeight: 'bold' }}&gt;T3 行业专业&lt;/Text&gt;&#10;            &lt;Text style={{ fontFamily: 'PingFang SC', fontSize: 12, color: '#3F4A55', marginTop: 2 }}&gt;研究机构 / 专业站&lt;/Text&gt;&#10;          &lt;/Box&gt;&#10;          &lt;Box style={{ flex: 1, background: 'rgba(168,53,26,0.08)', padding: '8px 6px', alignItems: 'center' }}&gt;&#10;            &lt;Text style={{ fontFamily: 'PingFang SC', fontSize: 14, color: '#A8351A', fontWeight: 'bold' }}&gt;T4 自媒体&lt;/Text&gt;&#10;            &lt;Text style={{ fontFamily: 'PingFang SC', fontSize: 12, color: '#3F4A55', marginTop: 2 }}&gt;孤证不作定论&lt;/Text&gt;&#10;          &lt;/Box&gt;&#10;        &lt;/Box&gt;&#10;      &lt;/Box&gt;&#10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5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主动去找反方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5800" y="1743075"/>
            <a:ext cx="3810000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1A1A1A"/>
                </a:solidFill>
                <a:latin typeface="Songti SC"/>
                <a:ea typeface="Songti SC"/>
              </a:rPr>
              <a:t>只搜正向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1A1A1A"/>
                </a:solidFill>
                <a:latin typeface="Songti SC"/>
                <a:ea typeface="Songti SC"/>
              </a:rPr>
              <a:t>会越搜越信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85800" y="2933700"/>
            <a:ext cx="38100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5800" y="3143250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拿原话去搜，搜到的多半是转述同一个说法的页面——它们互相印证，却都不是证据。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5800" y="4038600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所以每条线索强制跑四组检索式，其中一组专门去</a:t>
            </a:r>
            <a:r>
              <a:rPr lang="zh-CN" sz="1350" b="1">
                <a:solidFill>
                  <a:srgbClr val="A8351A"/>
                </a:solidFill>
                <a:latin typeface="PingFang SC"/>
                <a:ea typeface="PingFang SC"/>
              </a:rPr>
              <a:t>找反方</a:t>
            </a: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723900" y="4933950"/>
            <a:ext cx="3810000" cy="895350"/>
          </a:xfrm>
          <a:prstGeom prst="rect">
            <a:avLst/>
          </a:prstGeom>
          <a:solidFill>
            <a:srgbClr val="FDFCF7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85800" y="4933950"/>
            <a:ext cx="3848100" cy="895350"/>
          </a:xfrm>
          <a:custGeom>
            <a:pathLst>
              <a:path w="404" h="94">
                <a:moveTo>
                  <a:pt x="0" y="0"/>
                </a:moveTo>
                <a:lnTo>
                  <a:pt x="4" y="0"/>
                </a:lnTo>
                <a:lnTo>
                  <a:pt x="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76300" y="5067300"/>
            <a:ext cx="3467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反方查不到，才叫核验通过；查得到，就按证据改结论。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838700" y="1743075"/>
            <a:ext cx="6667500" cy="628650"/>
          </a:xfrm>
          <a:prstGeom prst="roundRect">
            <a:avLst>
              <a:gd name="adj" fmla="val 4545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4991100" y="1895475"/>
            <a:ext cx="38100" cy="32385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162550" y="1866900"/>
            <a:ext cx="619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3F4A55"/>
                </a:solidFill>
                <a:latin typeface="PingFang SC"/>
                <a:ea typeface="PingFang SC"/>
              </a:rPr>
              <a:t>① </a:t>
            </a:r>
            <a:r>
              <a:rPr lang="zh-CN" sz="975" spc="75">
                <a:solidFill>
                  <a:srgbClr val="3F4A55"/>
                </a:solidFill>
                <a:latin typeface="PingFang SC"/>
                <a:ea typeface="PingFang SC"/>
              </a:rPr>
              <a:t>正向求证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162550" y="2047875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空腹吃荔枝会得荔枝病，严重的会致死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4838700" y="2505075"/>
            <a:ext cx="6667500" cy="628650"/>
          </a:xfrm>
          <a:prstGeom prst="roundRect">
            <a:avLst>
              <a:gd name="adj" fmla="val 4545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4991100" y="2657475"/>
            <a:ext cx="38100" cy="32385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162550" y="2628900"/>
            <a:ext cx="619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3F4A55"/>
                </a:solidFill>
                <a:latin typeface="PingFang SC"/>
                <a:ea typeface="PingFang SC"/>
              </a:rPr>
              <a:t>② </a:t>
            </a:r>
            <a:r>
              <a:rPr lang="zh-CN" sz="975" spc="75">
                <a:solidFill>
                  <a:srgbClr val="3F4A55"/>
                </a:solidFill>
                <a:latin typeface="PingFang SC"/>
                <a:ea typeface="PingFang SC"/>
              </a:rPr>
              <a:t>质疑式反问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62550" y="2809875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空腹吃荔枝会得荔枝病，是真的吗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4838700" y="3267075"/>
            <a:ext cx="6667500" cy="628650"/>
          </a:xfrm>
          <a:prstGeom prst="roundRect">
            <a:avLst>
              <a:gd name="adj" fmla="val 4545"/>
            </a:avLst>
          </a:prstGeom>
          <a:solidFill>
            <a:srgbClr val="A8351A">
              <a:alpha val="7000"/>
            </a:srgbClr>
          </a:solidFill>
          <a:ln w="25400">
            <a:solidFill>
              <a:srgbClr val="A8351A"/>
            </a:solidFill>
            <a:prstDash val="solid"/>
          </a:ln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4991100" y="3419475"/>
            <a:ext cx="38100" cy="3238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162550" y="3390900"/>
            <a:ext cx="619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A8351A"/>
                </a:solidFill>
                <a:latin typeface="PingFang SC"/>
                <a:ea typeface="PingFang SC"/>
              </a:rPr>
              <a:t>③ </a:t>
            </a:r>
            <a:r>
              <a:rPr lang="zh-CN" sz="975" b="1" spc="75">
                <a:solidFill>
                  <a:srgbClr val="A8351A"/>
                </a:solidFill>
                <a:latin typeface="PingFang SC"/>
                <a:ea typeface="PingFang SC"/>
              </a:rPr>
              <a:t>反向举证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162550" y="3571875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空腹吃荔枝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荔枝病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辟谣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谣言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838700" y="4029075"/>
            <a:ext cx="6667500" cy="628650"/>
          </a:xfrm>
          <a:prstGeom prst="roundRect">
            <a:avLst>
              <a:gd name="adj" fmla="val 4545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4991100" y="4181475"/>
            <a:ext cx="38100" cy="323850"/>
          </a:xfrm>
          <a:prstGeom prst="rect">
            <a:avLst/>
          </a:prstGeom>
          <a:solidFill>
            <a:srgbClr val="3F4A55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162550" y="4152900"/>
            <a:ext cx="619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3F4A55"/>
                </a:solidFill>
                <a:latin typeface="PingFang SC"/>
                <a:ea typeface="PingFang SC"/>
              </a:rPr>
              <a:t>④ </a:t>
            </a:r>
            <a:r>
              <a:rPr lang="zh-CN" sz="975" spc="75">
                <a:solidFill>
                  <a:srgbClr val="3F4A55"/>
                </a:solidFill>
                <a:latin typeface="PingFang SC"/>
                <a:ea typeface="PingFang SC"/>
              </a:rPr>
              <a:t>权威溯源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162550" y="4333875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荔枝病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官方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权威机构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说法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838700" y="4829175"/>
            <a:ext cx="6667500" cy="9906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991100" y="4962525"/>
            <a:ext cx="6362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3F4A55"/>
                </a:solidFill>
                <a:latin typeface="PingFang SC"/>
                <a:ea typeface="PingFang SC"/>
              </a:rPr>
              <a:t>来源按可信度分级</a:t>
            </a:r>
            <a:r>
              <a:rPr lang="en-US" sz="975" spc="150">
                <a:solidFill>
                  <a:srgbClr val="3F4A55"/>
                </a:solidFill>
                <a:latin typeface="PingFang SC"/>
                <a:ea typeface="PingFang SC"/>
              </a:rPr>
              <a:t> · </a:t>
            </a:r>
            <a:r>
              <a:rPr lang="zh-CN" sz="975" spc="150">
                <a:solidFill>
                  <a:srgbClr val="3F4A55"/>
                </a:solidFill>
                <a:latin typeface="PingFang SC"/>
                <a:ea typeface="PingFang SC"/>
              </a:rPr>
              <a:t>交叉比对的依据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991100" y="5210175"/>
            <a:ext cx="1524000" cy="476250"/>
          </a:xfrm>
          <a:prstGeom prst="rect">
            <a:avLst/>
          </a:prstGeom>
          <a:solidFill>
            <a:srgbClr val="2E6B4F">
              <a:alpha val="10000"/>
            </a:srgbClr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91150" y="52863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E6B4F"/>
                </a:solidFill>
                <a:latin typeface="PingFang SC"/>
                <a:ea typeface="PingFang SC"/>
              </a:rPr>
              <a:t>T1 </a:t>
            </a:r>
            <a:r>
              <a:rPr lang="zh-CN" sz="1050" b="1">
                <a:solidFill>
                  <a:srgbClr val="2E6B4F"/>
                </a:solidFill>
                <a:latin typeface="PingFang SC"/>
                <a:ea typeface="PingFang SC"/>
              </a:rPr>
              <a:t>官方机构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400675" y="546735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疾控</a:t>
            </a: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 / </a:t>
            </a: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卫健委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610350" y="5210175"/>
            <a:ext cx="1514475" cy="476250"/>
          </a:xfrm>
          <a:prstGeom prst="rect">
            <a:avLst/>
          </a:prstGeom>
          <a:solidFill>
            <a:srgbClr val="3F4A55">
              <a:alpha val="10000"/>
            </a:srgbClr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000875" y="52863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F4A55"/>
                </a:solidFill>
                <a:latin typeface="PingFang SC"/>
                <a:ea typeface="PingFang SC"/>
              </a:rPr>
              <a:t>T2 </a:t>
            </a:r>
            <a:r>
              <a:rPr lang="zh-CN" sz="1050" b="1">
                <a:solidFill>
                  <a:srgbClr val="3F4A55"/>
                </a:solidFill>
                <a:latin typeface="PingFang SC"/>
                <a:ea typeface="PingFang SC"/>
              </a:rPr>
              <a:t>权威媒体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962775" y="546735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学术</a:t>
            </a: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 / </a:t>
            </a: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主流媒体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220075" y="5210175"/>
            <a:ext cx="1524000" cy="476250"/>
          </a:xfrm>
          <a:prstGeom prst="rect">
            <a:avLst/>
          </a:prstGeom>
          <a:solidFill>
            <a:srgbClr val="B6690E">
              <a:alpha val="12000"/>
            </a:srgbClr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610600" y="52863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6690E"/>
                </a:solidFill>
                <a:latin typeface="PingFang SC"/>
                <a:ea typeface="PingFang SC"/>
              </a:rPr>
              <a:t>T3 </a:t>
            </a:r>
            <a:r>
              <a:rPr lang="zh-CN" sz="1050" b="1">
                <a:solidFill>
                  <a:srgbClr val="B6690E"/>
                </a:solidFill>
                <a:latin typeface="PingFang SC"/>
                <a:ea typeface="PingFang SC"/>
              </a:rPr>
              <a:t>行业专业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515350" y="5467350"/>
            <a:ext cx="933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研究机构</a:t>
            </a: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 / </a:t>
            </a: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专业站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9839325" y="5210175"/>
            <a:ext cx="1514475" cy="476250"/>
          </a:xfrm>
          <a:prstGeom prst="rect">
            <a:avLst/>
          </a:prstGeom>
          <a:solidFill>
            <a:srgbClr val="A8351A">
              <a:alpha val="8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296525" y="5286375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8351A"/>
                </a:solidFill>
                <a:latin typeface="PingFang SC"/>
                <a:ea typeface="PingFang SC"/>
              </a:rPr>
              <a:t>T4 </a:t>
            </a:r>
            <a:r>
              <a:rPr lang="zh-CN" sz="1050" b="1">
                <a:solidFill>
                  <a:srgbClr val="A8351A"/>
                </a:solidFill>
                <a:latin typeface="PingFang SC"/>
                <a:ea typeface="PingFang SC"/>
              </a:rPr>
              <a:t>自媒体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258425" y="54673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/>
                </a:solidFill>
                <a:latin typeface="PingFang SC"/>
                <a:ea typeface="PingFang SC"/>
              </a:rPr>
              <a:t>孤证不作定论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1156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05 / 12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1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三条真实查证&#10;    &lt;/Text&gt;&#10;  &lt;/Box&gt;&#10;&#10;  {/* B · 上大图 + 下方卡片 */}&#10;  &lt;Box style={{ height: 540, paddingTop: 12, gap: 18 }}&gt;&#10;&#10;    {/* 上 · L1 卷宗三栏 */}&#10;    &lt;Box style={{ height: 300, background: '#FDFCF7', border: '1px solid rgba(26,26,26,0.14)', borderRadius: 4, padding: '16px 18px' }}&gt;&#10;      &lt;svg width={1096} height={268} viewBox='0 0 1096 268'&gt;&#10;&#10;        {/* 栏 1 */}&#10;        &lt;rect x='8' y='8' width='352' height='252' rx='3' fill='#FFFFFF' stroke='rgba(26,26,26,0.14)' strokeWidth='1.5' /&gt;&#10;        &lt;rect x='8' y='8' width='352' height='4' fill='#B6690E' /&gt;&#10;        &lt;text x='28' y='40' fontFamily='PingFang SC' fontSize='12' fill='#3F4A55' letterSpacing='2'&gt;VF-1024-0001&lt;/text&gt;&#10;        &lt;text x='28' y='70' fontFamily='Songti SC' fontSize='17' fill='#1A1A1A'&gt;空腹吃荔枝会得荔枝病&lt;/text&gt;&#10;        &lt;text x='28' y='94' fontFamily='Songti SC' fontSize='17' fill='#1A1A1A'&gt;严重的会致死&lt;/text&gt;&#10;        &lt;text x='28' y='124' fontFamily='PingFang SC' fontSize='13' fill='#3F4A55'&gt;3 条线索 · 7 条来源&lt;/text&gt;&#10;        &lt;circle cx='308' cy='196' r='46' fill='rgba(182,105,14,0.10)' stroke='#B6690E' strokeWidth='4' /&gt;&#10;        &lt;circle cx='308' cy='196' r='39' fill='none' stroke='#B6690E' strokeWidth='1.5' /&gt;&#10;        &lt;text x='308' y='190' textAnchor='middle' fontFamily='Songti SC' fontSize='22' fontWeight='bold' fill='#B6690E'&gt;部分&lt;/text&gt;&#10;        &lt;text x='308' y='216' textAnchor='middle' fontFamily='Songti SC' fontSize='22' fontWeight='bold' fill='#B6690E'&gt;属实&lt;/text&gt;&#10;&#10;        {/* 栏 2 */}&#10;        &lt;rect x='372' y='8' width='352' height='252' rx='3' fill='#FFFFFF' stroke='rgba(26,26,26,0.14)' strokeWidth='1.5' /&gt;&#10;        &lt;rect x='372' y='8' width='352' height='4' fill='#A8351A' /&gt;&#10;        &lt;text x='392' y='40' fontFamily='PingFang SC' fontSize='12' fill='#3F4A55' letterSpacing='2'&gt;VF-1024-0002&lt;/text&gt;&#10;        &lt;text x='392' y='70' fontFamily='Songti SC' fontSize='17' fill='#1A1A1A'&gt;微波炉加热的食物&lt;/text&gt;&#10;        &lt;text x='392' y='94' fontFamily='Songti SC' fontSize='17' fill='#1A1A1A'&gt;会致癌&lt;/text&gt;&#10;        &lt;text x='392' y='124' fontFamily='PingFang SC' fontSize='13' fill='#3F4A55'&gt;3 条线索 · 7 条来源&lt;/text&gt;&#10;        &lt;circle cx='672' cy='196' r='46' fill='rgba(168,53,26,0.08)' stroke='#A8351A' strokeWidth='4' /&gt;&#10;        &lt;circle cx='672' cy='196' r='39' fill='none' stroke='#A8351A' strokeWidth='1.5' /&gt;&#10;        &lt;text x='672' y='206' textAnchor='middle' fontFamily='Songti SC' fontSize='26' fontWeight='bold' fill='#A8351A'&gt;不实&lt;/text&gt;&#10;&#10;        {/* 栏 3 · 视觉最重 */}&#10;        &lt;rect x='736' y='8' width='352' height='252' rx='3' fill='#FFFFFF' stroke='#A8351A' strokeWidth='2.5' /&gt;&#10;        &lt;rect x='736' y='8' width='352' height='4' fill='#A8351A' /&gt;&#10;        &lt;text x='756' y='40' fontFamily='PingFang SC' fontSize='12' fill='#A8351A' letterSpacing='2'&gt;VF-1024-0003 · 重点&lt;/text&gt;&#10;        &lt;text x='756' y='70' fontFamily='Songti SC' fontSize='17' fill='#1A1A1A'&gt;每天一杯芹菜汁&lt;/text&gt;&#10;        &lt;text x='756' y='94' fontFamily='Songti SC' fontSize='17' fill='#1A1A1A'&gt;能把血压降到正常&lt;/text&gt;&#10;        &lt;text x='756' y='124' fontFamily='PingFang SC' fontSize='13' fill='#3F4A55'&gt;3 条线索 · 5 条来源&lt;/text&gt;&#10;        &lt;circle cx='1036' cy='196' r='46' fill='rgba(63,74,85,0.10)' stroke='#3F4A55' strokeWidth='4' /&gt;&#10;        &lt;circle cx='1036' cy='196' r='39' fill='none' stroke='#3F4A55' strokeWidth='1.5' /&gt;&#10;        &lt;text x='1036' y='190' textAnchor='middle' fontFamily='Songti SC' fontSize='20' fontWeight='bold' fill='#3F4A55'&gt;查无&lt;/text&gt;&#10;        &lt;text x='1036' y='216' textAnchor='middle' fontFamily='Songti SC' fontSize='20' fontWeight='bold' fill='#3F4A55'&gt;实据&lt;/text&gt;&#10;      &lt;/svg&gt;&#10;    &lt;/Box&gt;&#10;&#10;    {/* 下 · 三段说明 */}&#10;    &lt;Box style={{ flexDirection: 'row', gap: 16, height: 200 }}&gt;&#10;&#10;      &lt;Box style={{ flex: 1, background: '#FFFFFF', border: '1px solid rgba(26,26,26,0.14)', borderTop: '3px solid #B6690E', borderRadius: 3, padding: '14px 16px', justifyContent: 'space-between' }}&gt;&#10;        &lt;Box&gt;&#10;          &lt;Text style={{ fontFamily: 'Songti SC', fontSize: 22, fontWeight: '600', color: '#1A1A1A' }}&gt;荔枝病：部分属实&lt;/Text&gt;&#10;          &lt;Text style={{ fontFamily: 'PingFang SC', fontSize: 16, color: '#3F4A55', lineHeight: 1.65, marginTop: 10 }}&gt;&#10;            病是真的，儿童高危也是真的；但&quot;吃几颗就致死&quot;删掉了空腹、大量、未成熟三个前提，判不实。&#10;          &lt;/Text&gt;&#10;        &lt;/Box&gt;&#10;        &lt;Text style={{ fontFamily: 'PingFang SC', fontSize: 13, color: '#B6690E', marginTop: 'auto' }}&gt;看点：同一句话分开盖章&lt;/Text&gt;&#10;      &lt;/Box&gt;&#10;&#10;      &lt;Box style={{ flex: 1, background: '#FFFFFF', border: '1px solid rgba(26,26,26,0.14)', borderTop: '3px solid #A8351A', borderRadius: 3, padding: '14px 16px', justifyContent: 'space-between' }}&gt;&#10;        &lt;Box&gt;&#10;          &lt;Text style={{ fontFamily: 'Songti SC', fontSize: 22, fontWeight: '600', color: '#1A1A1A' }}&gt;微波炉：不实&lt;/Text&gt;&#10;          &lt;Text style={{ fontFamily: 'PingFang SC', fontSize: 16, color: '#3F4A55', lineHeight: 1.65, marginTop: 10 }}&gt;&#10;            微波是非电离辐射，不产生致癌物。但第三条&quot;用错塑料容器有风险&quot;我们判了属实——不一律否定才叫核查。&#10;          &lt;/Text&gt;&#10;        &lt;/Box&gt;&#10;        &lt;Text style={{ fontFamily: 'PingFang SC', fontSize: 13, color: '#A8351A', marginTop: 'auto' }}&gt;看点：该肯定的照常肯定&lt;/Text&gt;&#10;      &lt;/Box&gt;&#10;&#10;      &lt;Box style={{ flex: 1, background: '#FFFFFF', border: '2px solid #A8351A', borderRadius: 3, padding: '14px 16px', justifyContent: 'space-between' }}&gt;&#10;        &lt;Box&gt;&#10;          &lt;Text style={{ fontFamily: 'Songti SC', fontSize: 22, fontWeight: '600', color: '#A8351A' }}&gt;芹菜汁：查无实据&lt;/Text&gt;&#10;          &lt;Text style={{ fontFamily: 'PingFang SC', fontSize: 16, color: '#3F4A55', lineHeight: 1.65, marginTop: 10 }}&gt;&#10;            芹菜素确有药理研究，但只有动物实验；&quot;降到正常水平&quot;这种强疗效断言，没有找到可靠的临床证据。&#10;          &lt;/Text&gt;&#10;        &lt;/Box&gt;&#10;        &lt;Text style={{ fontFamily: 'PingFang SC', fontSize: 13, color: '#A8351A', fontWeight: 'bold', marginTop: 'auto' }}&gt;杀手锏：专门证明&quot;敢说不知道&quot;&lt;/Text&gt;&#10;      &lt;/Box&gt;&#10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6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三条真实查证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85800" y="1257300"/>
            <a:ext cx="10820400" cy="2857500"/>
          </a:xfrm>
          <a:prstGeom prst="roundRect">
            <a:avLst>
              <a:gd name="adj" fmla="val 1333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09700"/>
            <a:ext cx="10439400" cy="2552700"/>
          </a:xfrm>
          <a:prstGeom prst="rect">
            <a:avLst/>
          </a:prstGeom>
          <a:ln/>
        </p:spPr>
      </p:pic>
      <p:sp>
        <p:nvSpPr>
          <p:cNvPr id="187" name=""/>
          <p:cNvSpPr/>
          <p:nvPr/>
        </p:nvSpPr>
        <p:spPr>
          <a:xfrm rot="0" flipH="0" flipV="0">
            <a:off x="685800" y="4314825"/>
            <a:ext cx="3505200" cy="1905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685800" y="4314825"/>
            <a:ext cx="3505200" cy="1905000"/>
          </a:xfrm>
          <a:custGeom>
            <a:pathLst>
              <a:path w="368" h="200">
                <a:moveTo>
                  <a:pt x="365" y="0"/>
                </a:moveTo>
                <a:cubicBezTo>
                  <a:pt x="367" y="0"/>
                  <a:pt x="368" y="1"/>
                  <a:pt x="368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B6690E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8200" y="44481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Songti SC"/>
                <a:ea typeface="Songti SC"/>
              </a:rPr>
              <a:t>荔枝病：部分属实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4800600"/>
            <a:ext cx="32004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病是真的，儿童高危也是真的；但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吃几颗就致死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删掉了空腹、大量、未成熟三个前提，判不实。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38200" y="59055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6690E"/>
                </a:solidFill>
                <a:latin typeface="PingFang SC"/>
                <a:ea typeface="PingFang SC"/>
              </a:rPr>
              <a:t>看点：同一句话分开盖章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343400" y="4314825"/>
            <a:ext cx="3505200" cy="1905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343400" y="4314825"/>
            <a:ext cx="3505200" cy="1905000"/>
          </a:xfrm>
          <a:custGeom>
            <a:pathLst>
              <a:path w="368" h="200">
                <a:moveTo>
                  <a:pt x="365" y="0"/>
                </a:moveTo>
                <a:cubicBezTo>
                  <a:pt x="367" y="0"/>
                  <a:pt x="368" y="1"/>
                  <a:pt x="368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65" y="0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495800" y="4448175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Songti SC"/>
                <a:ea typeface="Songti SC"/>
              </a:rPr>
              <a:t>微波炉：不实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495800" y="4800600"/>
            <a:ext cx="32004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微波是非电离辐射，不产生致癌物。但第三条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用错塑料容器有风险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我们判了属实——不一律否定才叫核查。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495800" y="59055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8351A"/>
                </a:solidFill>
                <a:latin typeface="PingFang SC"/>
                <a:ea typeface="PingFang SC"/>
              </a:rPr>
              <a:t>看点：该肯定的照常肯定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001000" y="4286250"/>
            <a:ext cx="3505200" cy="1905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5400">
            <a:solidFill>
              <a:srgbClr val="A8351A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53400" y="44196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8351A"/>
                </a:solidFill>
                <a:latin typeface="Songti SC"/>
                <a:ea typeface="Songti SC"/>
              </a:rPr>
              <a:t>芹菜汁：查无实据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53400" y="4772025"/>
            <a:ext cx="32004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芹菜素确有药理研究，但只有动物实验；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降到正常水平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这种强疗效断言，没有找到可靠的临床证据。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153400" y="590550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351A"/>
                </a:solidFill>
                <a:latin typeface="PingFang SC"/>
                <a:ea typeface="PingFang SC"/>
              </a:rPr>
              <a:t>杀手锏：专门证明</a:t>
            </a:r>
            <a:r>
              <a:rPr lang="en-US" sz="975" b="1">
                <a:solidFill>
                  <a:srgbClr val="A8351A"/>
                </a:solidFill>
                <a:latin typeface="PingFang SC"/>
                <a:ea typeface="PingFang SC"/>
              </a:rPr>
              <a:t>"</a:t>
            </a:r>
            <a:r>
              <a:rPr lang="zh-CN" sz="975" b="1">
                <a:solidFill>
                  <a:srgbClr val="A8351A"/>
                </a:solidFill>
                <a:latin typeface="PingFang SC"/>
                <a:ea typeface="PingFang SC"/>
              </a:rPr>
              <a:t>敢说不知道</a:t>
            </a:r>
            <a:r>
              <a:rPr lang="en-US" sz="975" b="1">
                <a:solidFill>
                  <a:srgbClr val="A8351A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156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06 / 12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3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一键甩回群里&#10;    &lt;/Text&gt;&#10;  &lt;/Box&gt;&#10;&#10;  {/* B · 全幅图 + 骑线文字 */}&#10;  &lt;Box style={{ height: 540, flexDirection: 'row', gap: 40, paddingTop: 12 }}&gt;&#10;&#10;    {/* 左 60% · L1 反驳卡片实物 */}&#10;    &lt;Box style={{ width: 660, alignItems: 'center', justifyContent: 'center' }}&gt;&#10;      &lt;svg width={430} height={516} viewBox='0 0 540 648'&gt;&#10;        &lt;rect x='4' y='4' width='532' height='640' rx='6' fill='#F4F1E9' stroke='#1A1A1A' strokeWidth='3' /&gt;&#10;        &lt;rect x='28' y='28' width='484' height='592' fill='#FDFCF7' stroke='#1A1A1A' strokeWidth='2' /&gt;&#10;&#10;        &lt;text x='56' y='86' fontFamily='Songti SC' fontSize='30' fontWeight='bold' fill='#1A1A1A'&gt;求真社 · 查证结果&lt;/text&gt;&#10;        &lt;text x='58' y='112' fontFamily='PingFang SC' fontSize='14' fill='#3F4A55' letterSpacing='2'&gt;VERIFACT / VF-1024-0001&lt;/text&gt;&#10;        &lt;line x1='56' y1='130' x2='484' y2='130' stroke='#1A1A1A' strokeWidth='2' /&gt;&#10;&#10;        &lt;text x='56' y='168' fontFamily='PingFang SC' fontSize='15' fill='#A8351A'&gt;原话&lt;/text&gt;&#10;        &lt;text x='56' y='204' fontFamily='Songti SC' fontSize='23' fill='#1A1A1A'&gt;空腹吃荔枝会得荔枝病，&lt;/text&gt;&#10;        &lt;text x='56' y='236' fontFamily='Songti SC' fontSize='23' fill='#1A1A1A'&gt;严重的会致死&lt;/text&gt;&#10;&#10;        &lt;text x='56' y='286' fontFamily='PingFang SC' fontSize='15' fill='#A8351A'&gt;结论&lt;/text&gt;&#10;        &lt;text x='56' y='344' fontFamily='Songti SC' fontSize='52' fontWeight='bold' fill='#B6690E'&gt;部分属实&lt;/text&gt;&#10;&#10;        &lt;text x='56' y='394' fontFamily='PingFang SC' fontSize='16' fill='#3F4A55'&gt;确实有荔枝病，但被夸大了：&lt;/text&gt;&#10;        &lt;text x='56' y='422' fontFamily='PingFang SC' fontSize='16' fill='#3F4A55'&gt;需要空腹 + 大量 + 未成熟三个条件叠加，&lt;/text&gt;&#10;        &lt;text x='56' y='450' fontFamily='PingFang SC' fontSize='16' fill='#3F4A55'&gt;儿童风险最高。吃几颗致死没有依据。&lt;/text&gt;&#10;&#10;        {/* 卡片上的印章 */}&#10;        &lt;circle cx='410' cy='520' r='72' fill='rgba(168,53,26,0.07)' stroke='#A8351A' strokeWidth='5' /&gt;&#10;        &lt;circle cx='410' cy='520' r='62' fill='none' stroke='#A8351A' strokeWidth='2' /&gt;&#10;        &lt;text x='410' y='510' textAnchor='middle' fontFamily='Songti SC' fontSize='34' fontWeight='bold' fill='#A8351A'&gt;部分&lt;/text&gt;&#10;        &lt;text x='410' y='550' textAnchor='middle' fontFamily='Songti SC' fontSize='34' fontWeight='bold' fill='#A8351A'&gt;属实&lt;/text&gt;&#10;&#10;        &lt;text x='56' y='596' fontFamily='PingFang SC' fontSize='12' fill='#3F4A55'&gt;证据与来源见卷宗 · 每条结论均可点开原文核对&lt;/text&gt;&#10;      &lt;/svg&gt;&#10;    &lt;/Box&gt;&#10;&#10;    {/* 右 · 骑线文字 */}&#10;    &lt;Box style={{ flex: 1, justifyContent: 'center', gap: 24 }}&gt;&#10;      &lt;Text style={{ fontFamily: 'Songti SC', fontSize: 32, fontWeight: '600', color: '#1A1A1A', lineHeight: 1.5 }}&gt;&#10;        查完了&lt;br /&gt;还得说出去&#10;      &lt;/Text&gt;&#10;      &lt;Box style={{ height: 2, background: 'rgba(63,74,85,0.30)' }} /&gt;&#10;      &lt;Text style={{ fontFamily: 'PingFang SC', fontSize: 19, color: '#3F4A55', lineHeight: 1.7 }}&gt;&#10;        真相查到了，但你要在群里跟二舅吵一百句吗？不必。&#10;      &lt;/Text&gt;&#10;      &lt;Text style={{ fontFamily: 'PingFang SC', fontSize: 19, color: '#3F4A55', lineHeight: 1.7 }}&gt;&#10;        一键生成 1080×1440 的反驳卡片：原话、结论大字、一句人话、右下角印章。可存图，也可复制文字版。&#10;      &lt;/Text&gt;&#10;      &lt;Box style={{ background: '#FDFCF7', border: '1px solid rgba(26,26,26,0.14)', borderLeft: '4px solid #A8351A', padding: '16px 18px' }}&gt;&#10;        &lt;Text style={{ fontFamily: 'Songti SC', fontSize: 22, color: '#A8351A', lineHeight: 1.5 }}&gt;&#10;          比吵一百句管用。&#10;        &lt;/Text&gt;&#10;      &lt;/Box&gt;&#10;      &lt;Text style={{ fontFamily: 'PingFang SC', fontSize: 16, color: '#3F4A55', lineHeight: 1.7 }}&gt;&#10;        这也是作品会被继续使用、被转发的理由——场景价值不靠说，靠它真的被甩进了某个群里。&#10;      &lt;/Text&gt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7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一键甩回群里</a:t>
            </a:r>
            <a:endParaRPr/>
          </a:p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781175" y="1314450"/>
            <a:ext cx="4095750" cy="491490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353300" y="1257300"/>
            <a:ext cx="4152900" cy="1104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1A1A1A"/>
                </a:solidFill>
                <a:latin typeface="Songti SC"/>
                <a:ea typeface="Songti SC"/>
              </a:rPr>
              <a:t>查完了</a:t>
            </a:r>
            <a:endParaRPr/>
          </a:p>
          <a:p>
            <a:pPr>
              <a:lnSpc>
                <a:spcPct val="150000"/>
              </a:lnSpc>
            </a:pPr>
            <a:r>
              <a:rPr lang="zh-CN" sz="2400" b="1">
                <a:solidFill>
                  <a:srgbClr val="1A1A1A"/>
                </a:solidFill>
                <a:latin typeface="Songti SC"/>
                <a:ea typeface="Songti SC"/>
              </a:rPr>
              <a:t>还得说出去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353300" y="2590800"/>
            <a:ext cx="41529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353300" y="2838450"/>
            <a:ext cx="41529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真相查到了，但你要在群里跟二舅吵一百句吗？不必。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353300" y="3810000"/>
            <a:ext cx="41529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一键生成</a:t>
            </a:r>
            <a:r>
              <a:rPr lang="en-US" sz="1425">
                <a:solidFill>
                  <a:srgbClr val="3F4A55"/>
                </a:solidFill>
                <a:latin typeface="PingFang SC"/>
                <a:ea typeface="PingFang SC"/>
              </a:rPr>
              <a:t> 1080×1440 </a:t>
            </a:r>
            <a:r>
              <a:rPr lang="zh-CN" sz="1425">
                <a:solidFill>
                  <a:srgbClr val="3F4A55"/>
                </a:solidFill>
                <a:latin typeface="PingFang SC"/>
                <a:ea typeface="PingFang SC"/>
              </a:rPr>
              <a:t>的反驳卡片：原话、结论大字、一句人话、右下角印章。可存图，也可复制文字版。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391400" y="5153025"/>
            <a:ext cx="4152900" cy="685800"/>
          </a:xfrm>
          <a:prstGeom prst="rect">
            <a:avLst/>
          </a:prstGeom>
          <a:solidFill>
            <a:srgbClr val="FDFCF7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353300" y="5153025"/>
            <a:ext cx="4191000" cy="685800"/>
          </a:xfrm>
          <a:custGeom>
            <a:pathLst>
              <a:path w="440" h="72">
                <a:moveTo>
                  <a:pt x="0" y="0"/>
                </a:moveTo>
                <a:lnTo>
                  <a:pt x="4" y="0"/>
                </a:lnTo>
                <a:lnTo>
                  <a:pt x="4" y="72"/>
                </a:lnTo>
                <a:lnTo>
                  <a:pt x="0" y="72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62850" y="5305425"/>
            <a:ext cx="37719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A8351A"/>
                </a:solidFill>
                <a:latin typeface="Songti SC"/>
                <a:ea typeface="Songti SC"/>
              </a:rPr>
              <a:t>比吵一百句管用。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353300" y="6067425"/>
            <a:ext cx="4152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这也是作品会被继续使用、被转发的理由——场景价值不靠说，靠它真的被甩进了某个群里。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125200" y="641032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07 / 12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18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三个进阶，都做了&#10;    &lt;/Text&gt;&#10;  &lt;/Box&gt;&#10;&#10;  {/* B · 左标题 + 右 Diagram */}&#10;  &lt;Box style={{ height: 540, flexDirection: 'row', gap: 36, paddingTop: 14 }}&gt;&#10;&#10;    {/* 左 38% */}&#10;    &lt;Box style={{ width: 400, justifyContent: 'center', gap: 20 }}&gt;&#10;      &lt;Text style={{ fontFamily: 'Songti SC', fontSize: 30, fontWeight: '600', color: '#1A1A1A', lineHeight: 1.45 }}&gt;&#10;        不是报菜名&lt;br /&gt;每个都能当场演&#10;      &lt;/Text&gt;&#10;      &lt;Box style={{ height: 2, background: 'rgba(63,74,85,0.30)' }} /&gt;&#10;      &lt;Text style={{ fontFamily: 'PingFang SC', fontSize: 18, color: '#3F4A55', lineHeight: 1.7 }}&gt;&#10;        赛道给的三条进阶挑战是选做，做了明显加分。我们没有挑一条做深，而是三条全接。&#10;      &lt;/Text&gt;&#10;      &lt;Box style={{ background: '#FDFCF7', border: '1px solid rgba(26,26,26,0.14)', borderLeft: '4px solid #A8351A', padding: '14px 16px' }}&gt;&#10;        &lt;Text style={{ fontFamily: 'PingFang SC', fontSize: 17, color: '#1A1A1A', lineHeight: 1.6 }}&gt;&#10;          三条进阶共用同一条流水线：检索 → 交叉比对 → 落章。差别只在入口和出口。&#10;        &lt;/Text&gt;&#10;      &lt;/Box&gt;&#10;    &lt;/Box&gt;&#10;&#10;    {/* 右 62% · 三分支 */}&#10;    &lt;Box style={{ flex: 1, gap: 16, justifyContent: 'center' }}&gt;&#10;&#10;      {/* 分支 1 */}&#10;      &lt;Box style={{ flexDirection: 'row', background: '#FDFCF7', border: '1px solid rgba(26,26,26,0.14)', borderRadius: 3, padding: '16px 18px', gap: 16, alignItems: 'center' }}&gt;&#10;        &lt;Box style={{ width: 56, height: 56, background: '#1A1A1A', alignItems: 'center', justifyContent: 'center' }}&gt;&#10;          &lt;Text style={{ fontFamily: 'Songti SC', fontSize: 26, fontWeight: 'bold', color: '#F4F1E9' }}&gt;壹&lt;/Text&gt;&#10;        &lt;/Box&gt;&#10;        &lt;Box style={{ flex: 1 }}&gt;&#10;          &lt;Text style={{ fontFamily: 'Songti SC', fontSize: 23, fontWeight: '600', color: '#1A1A1A' }}&gt;深度调查&lt;/Text&gt;&#10;          &lt;Text style={{ fontFamily: 'PingFang SC', fontSize: 16, color: '#3F4A55', lineHeight: 1.6, marginTop: 6 }}&gt;&#10;            自己拆步骤、跑四组检索式、交叉比对，最后交一份带证据链的调查报告，可一键导出 Markdown。&#10;          &lt;/Text&gt;&#10;        &lt;/Box&gt;&#10;      &lt;/Box&gt;&#10;&#10;      {/* 分支 2 */}&#10;      &lt;Box style={{ flexDirection: 'row', background: '#FDFCF7', border: '1px solid rgba(26,26,26,0.14)', borderRadius: 3, padding: '16px 18px', gap: 16, alignItems: 'center' }}&gt;&#10;        &lt;Box style={{ width: 56, height: 56, background: '#1A1A1A', alignItems: 'center', justifyContent: 'center' }}&gt;&#10;          &lt;Text style={{ fontFamily: 'Songti SC', fontSize: 26, fontWeight: 'bold', color: '#F4F1E9' }}&gt;贰&lt;/Text&gt;&#10;        &lt;/Box&gt;&#10;        &lt;Box style={{ flex: 1 }}&gt;&#10;          &lt;Text style={{ fontFamily: 'Songti SC', fontSize: 23, fontWeight: '600', color: '#1A1A1A' }}&gt;持续盯梢&lt;/Text&gt;&#10;          &lt;Text style={{ fontFamily: 'PingFang SC', fontSize: 16, color: '#3F4A55', lineHeight: 1.6, marginTop: 6 }}&gt;&#10;            加入盯梢名单后每天自动重查一遍；结论一旦变化立刻提醒——名单里已经躺着一条&quot;由存疑转不实&quot;的真实变化。&#10;          &lt;/Text&gt;&#10;        &lt;/Box&gt;&#10;      &lt;/Box&gt;&#10;&#10;      {/* 分支 3 */}&#10;      &lt;Box style={{ flexDirection: 'row', background: '#FDFCF7', border: '1px solid rgba(26,26,26,0.14)', borderRadius: 3, padding: '16px 18px', gap: 16, alignItems: 'center' }}&gt;&#10;        &lt;Box style={{ width: 56, height: 56, background: '#A8351A', alignItems: 'center', justifyContent: 'center' }}&gt;&#10;          &lt;Text style={{ fontFamily: 'Songti SC', fontSize: 26, fontWeight: 'bold', color: '#F4F1E9' }}&gt;叁&lt;/Text&gt;&#10;        &lt;/Box&gt;&#10;        &lt;Box style={{ flex: 1 }}&gt;&#10;          &lt;Text style={{ fontFamily: 'Songti SC', fontSize: 23, fontWeight: '600', color: '#1A1A1A' }}&gt;截图查证&lt;/Text&gt;&#10;          &lt;Text style={{ fontFamily: 'PingFang SC', fontSize: 16, color: '#3F4A55', lineHeight: 1.6, marginTop: 6 }}&gt;&#10;            直接把家族群那张截图丢进来，先认出图里说了什么，再逐句拿去查——最贴近真实使用场景的一个入口。&#10;          &lt;/Text&gt;&#10;        &lt;/Box&gt;&#10;      &lt;/Box&gt;&#10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08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三个进阶，都做了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2190750"/>
            <a:ext cx="3810000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1A1A1A"/>
                </a:solidFill>
                <a:latin typeface="Songti SC"/>
                <a:ea typeface="Songti SC"/>
              </a:rPr>
              <a:t>不是报菜名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1A1A1A"/>
                </a:solidFill>
                <a:latin typeface="Songti SC"/>
                <a:ea typeface="Songti SC"/>
              </a:rPr>
              <a:t>每个都能当场演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85800" y="3381375"/>
            <a:ext cx="38100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5800" y="3590925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赛道给的三条进阶挑战是选做，做了明显加分。我们没有挑一条做深，而是三条全接。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723900" y="4486275"/>
            <a:ext cx="3810000" cy="895350"/>
          </a:xfrm>
          <a:prstGeom prst="rect">
            <a:avLst/>
          </a:prstGeom>
          <a:solidFill>
            <a:srgbClr val="FDFCF7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85800" y="4486275"/>
            <a:ext cx="3848100" cy="895350"/>
          </a:xfrm>
          <a:custGeom>
            <a:pathLst>
              <a:path w="404" h="94">
                <a:moveTo>
                  <a:pt x="0" y="0"/>
                </a:moveTo>
                <a:lnTo>
                  <a:pt x="4" y="0"/>
                </a:lnTo>
                <a:lnTo>
                  <a:pt x="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76300" y="4619625"/>
            <a:ext cx="3467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三条进阶共用同一条流水线：检索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交叉比对</a:t>
            </a:r>
            <a:r>
              <a:rPr lang="en-US" sz="1275">
                <a:solidFill>
                  <a:srgbClr val="1A1A1A"/>
                </a:solidFill>
                <a:latin typeface="PingFang SC"/>
                <a:ea typeface="PingFang SC"/>
              </a:rPr>
              <a:t> → </a:t>
            </a: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落章。差别只在入口和出口。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838700" y="1800225"/>
            <a:ext cx="6667500" cy="1219200"/>
          </a:xfrm>
          <a:prstGeom prst="roundRect">
            <a:avLst>
              <a:gd name="adj" fmla="val 2344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5010150" y="2143125"/>
            <a:ext cx="533400" cy="533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153025" y="22574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4F1E9"/>
                </a:solidFill>
                <a:latin typeface="Songti SC"/>
                <a:ea typeface="Songti SC"/>
              </a:rPr>
              <a:t>壹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695950" y="1952625"/>
            <a:ext cx="5638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1A1A"/>
                </a:solidFill>
                <a:latin typeface="Songti SC"/>
                <a:ea typeface="Songti SC"/>
              </a:rPr>
              <a:t>深度调查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695950" y="2276475"/>
            <a:ext cx="5638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自己拆步骤、跑四组检索式、交叉比对，最后交一份带证据链的调查报告，可一键导出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Markdown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4838700" y="3171825"/>
            <a:ext cx="6667500" cy="1219200"/>
          </a:xfrm>
          <a:prstGeom prst="roundRect">
            <a:avLst>
              <a:gd name="adj" fmla="val 2344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5010150" y="3514725"/>
            <a:ext cx="533400" cy="533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153025" y="36290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4F1E9"/>
                </a:solidFill>
                <a:latin typeface="Songti SC"/>
                <a:ea typeface="Songti SC"/>
              </a:rPr>
              <a:t>贰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695950" y="3324225"/>
            <a:ext cx="5638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1A1A"/>
                </a:solidFill>
                <a:latin typeface="Songti SC"/>
                <a:ea typeface="Songti SC"/>
              </a:rPr>
              <a:t>持续盯梢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695950" y="3648075"/>
            <a:ext cx="5638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加入盯梢名单后每天自动重查一遍；结论一旦变化立刻提醒——名单里已经躺着一条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由存疑转不实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的真实变化。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838700" y="4543425"/>
            <a:ext cx="6667500" cy="1219200"/>
          </a:xfrm>
          <a:prstGeom prst="roundRect">
            <a:avLst>
              <a:gd name="adj" fmla="val 2344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5010150" y="4886325"/>
            <a:ext cx="533400" cy="5334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153025" y="50006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4F1E9"/>
                </a:solidFill>
                <a:latin typeface="Songti SC"/>
                <a:ea typeface="Songti SC"/>
              </a:rPr>
              <a:t>叁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695950" y="4695825"/>
            <a:ext cx="5638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1A1A"/>
                </a:solidFill>
                <a:latin typeface="Songti SC"/>
                <a:ea typeface="Songti SC"/>
              </a:rPr>
              <a:t>截图查证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695950" y="5019675"/>
            <a:ext cx="5638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直接把家族群那张截图丢进来，先认出图里说了什么，再逐句拿去查——最贴近真实使用场景的一个入口。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115675" y="64103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08 / 12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45" name="" descr="&lt;Slide style={{ background: '#F4F1E9', padding: '20px 72px', justifyContent: 'center', alignItems: 'center' }}&gt;&#10;&#10;  {/* 巨型锚点数字 */}&#10;  &lt;Text style={{ fontFamily: 'Songti SC', fontSize: 132, fontWeight: 'bold', color: '#A8351A', lineHeight: 1.0, textAlign: 'center' }}&gt;&#10;    100%&#10;  &lt;/Text&gt;&#10;&#10;  &lt;Box style={{ width: 120, height: 5, background: '#1A1A1A', marginTop: 34, marginBottom: 30, alignSelf: 'center' }} /&gt;&#10;&#10;  &lt;Text style={{ fontFamily: 'Songti SC', fontSize: 34, fontWeight: 'bold', color: '#1A1A1A', textAlign: 'center', lineHeight: 1.5 }}&gt;&#10;    结论 100% 来自元宝搜索&#10;  &lt;/Text&gt;&#10;&#10;  &lt;Text style={{ fontFamily: 'PingFang SC', fontSize: 21, color: '#3F4A55', textAlign: 'center', lineHeight: 1.8, marginTop: 24 }}&gt;&#10;    没有检索，就没有结论。&lt;br /&gt;&#10;    未接入搜索凭据时，系统只演示流程，拒绝对任何新输入编造答案 ——&#10;  &lt;/Text&gt;&#10;&#10;  &lt;Text style={{ fontFamily: 'Songti SC', fontSize: 24, color: '#A8351A', textAlign: 'center', lineHeight: 1.7, marginTop: 18 }}&gt;&#10;    把「少点幻觉，多点搜索」做成了产品行为本身。&#10;  &lt;/Text&gt;&#10;&#10;  &lt;Box style={{ flexDirection: 'row', gap: 14, marginTop: 40, justifyContent: 'center' }}&gt;&#10;    &lt;Box style={{ background: '#FDFCF7', border: '1px solid rgba(26,26,26,0.14)', borderRadius: 3, padding: '12px 20px' }}&gt;&#10;      &lt;Text style={{ fontFamily: 'PingFang SC', fontSize: 16, color: '#3F4A55' }}&gt;去掉元宝搜索 → 转不起来&lt;/Text&gt;&#10;    &lt;/Box&gt;&#10;    &lt;Box style={{ background: '#FDFCF7', border: '1px solid rgba(26,26,26,0.14)', borderRadius: 3, padding: '12px 20px' }}&gt;&#10;      &lt;Text style={{ fontFamily: 'PingFang SC', fontSize: 16, color: '#3F4A55' }}&gt;来源全部可点开原文&lt;/Text&gt;&#10;    &lt;/Box&gt;&#10;    &lt;Box style={{ background: '#FDFCF7', border: '1px solid rgba(26,26,26,0.14)', borderRadius: 3, padding: '12px 20px' }}&gt;&#10;      &lt;Text style={{ fontFamily: 'PingFang SC', fontSize: 16, color: '#3F4A55' }}&gt;查不到 → 明说不知道&lt;/Text&gt;&#10;    &lt;/Box&gt;&#10;  &lt;/Box&gt;&#10;&#10;  &lt;Box style={{ height: 40, width: '100%', flexDirection: 'row', justifyContent: 'space-between', alignItems: 'center', marginTop: 56 }}&gt;&#10;    &lt;Text style={{ fontFamily: 'PingFang SC', fontSize: 12, color: '#3F4A55', opacity: 0.6 }}&gt;求真社 · Verifact&lt;/Text&gt;&#10;    &lt;Text style={{ fontFamily: 'PingFang SC', fontSize: 12, color: '#3F4A55' }}&gt;09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695825" y="323850"/>
            <a:ext cx="2809875" cy="1514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900" b="1">
                <a:solidFill>
                  <a:srgbClr val="A8351A"/>
                </a:solidFill>
                <a:latin typeface="Songti SC"/>
                <a:ea typeface="Songti SC"/>
              </a:rPr>
              <a:t>100%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524500" y="2162175"/>
            <a:ext cx="1143000" cy="476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362450" y="2495550"/>
            <a:ext cx="3476625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结论</a:t>
            </a:r>
            <a:r>
              <a:rPr lang="en-US" sz="2550" b="1">
                <a:solidFill>
                  <a:srgbClr val="1A1A1A"/>
                </a:solidFill>
                <a:latin typeface="Songti SC"/>
                <a:ea typeface="Songti SC"/>
              </a:rPr>
              <a:t> 100% </a:t>
            </a: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来自元宝搜索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2962275" y="3314700"/>
            <a:ext cx="6267450" cy="86677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575">
                <a:solidFill>
                  <a:srgbClr val="3F4A55"/>
                </a:solidFill>
                <a:latin typeface="PingFang SC"/>
                <a:ea typeface="PingFang SC"/>
              </a:rPr>
              <a:t>没有检索，就没有结论。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575">
                <a:solidFill>
                  <a:srgbClr val="3F4A55"/>
                </a:solidFill>
                <a:latin typeface="PingFang SC"/>
                <a:ea typeface="PingFang SC"/>
              </a:rPr>
              <a:t>未接入搜索凭据时，系统只演示流程，拒绝对任何新输入编造答案</a:t>
            </a:r>
            <a:r>
              <a:rPr lang="en-US" sz="1575">
                <a:solidFill>
                  <a:srgbClr val="3F4A55"/>
                </a:solidFill>
                <a:latin typeface="PingFang SC"/>
                <a:ea typeface="PingFang SC"/>
              </a:rPr>
              <a:t> ——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581400" y="4352925"/>
            <a:ext cx="5029200" cy="4667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800">
                <a:solidFill>
                  <a:srgbClr val="A8351A"/>
                </a:solidFill>
                <a:latin typeface="Songti SC"/>
                <a:ea typeface="Songti SC"/>
              </a:rPr>
              <a:t>把「少点幻觉，多点搜索」做成了产品行为本身。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3076575" y="5200650"/>
            <a:ext cx="2162175" cy="419100"/>
          </a:xfrm>
          <a:prstGeom prst="roundRect">
            <a:avLst>
              <a:gd name="adj" fmla="val 6818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267075" y="53149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去掉元宝搜索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转不起来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5372100" y="5200650"/>
            <a:ext cx="1752600" cy="419100"/>
          </a:xfrm>
          <a:prstGeom prst="roundRect">
            <a:avLst>
              <a:gd name="adj" fmla="val 6818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562600" y="53149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来源全部可点开原文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258050" y="5200650"/>
            <a:ext cx="1857375" cy="419100"/>
          </a:xfrm>
          <a:prstGeom prst="roundRect">
            <a:avLst>
              <a:gd name="adj" fmla="val 6818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448550" y="5314950"/>
            <a:ext cx="1476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查不到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→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明说不知道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115675" y="62769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09 / 12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评委看什么，我们就做什么&#10;    &lt;/Text&gt;&#10;  &lt;/Box&gt;&#10;&#10;  {/* B · 非对称双栏 60:40 */}&#10;  &lt;Box style={{ height: 540, flexDirection: 'row', gap: 36, paddingTop: 14 }}&gt;&#10;&#10;    {/* 左 60% · 四维度表 */}&#10;    &lt;Box style={{ width: 660, background: '#FDFCF7', border: '1px solid rgba(26,26,26,0.14)', borderRadius: 4, padding: '18px 20px', gap: 12 }}&gt;&#10;&#10;      &lt;Box style={{ flexDirection: 'row', paddingBottom: 10, borderBottom: '2px solid #1A1A1A' }}&gt;&#10;        &lt;Text style={{ fontFamily: 'PingFang SC', fontSize: 14, color: '#3F4A55', width: 150, letterSpacing: 1 }}&gt;维度&lt;/Text&gt;&#10;        &lt;Text style={{ fontFamily: 'PingFang SC', fontSize: 14, color: '#3F4A55', width: 80, letterSpacing: 1 }}&gt;权重&lt;/Text&gt;&#10;        &lt;Text style={{ fontFamily: 'PingFang SC', fontSize: 14, color: '#3F4A55', flex: 1, letterSpacing: 1 }}&gt;我们怎么拿这一分&lt;/Text&gt;&#10;      &lt;/Box&gt;&#10;&#10;      &lt;Box style={{ flexDirection: 'row', paddingTop: 8, paddingBottom: 8, borderBottom: '1px dashed rgba(63,74,85,0.30)' }}&gt;&#10;        &lt;Text style={{ fontFamily: 'Songti SC', fontSize: 20, fontWeight: '600', color: '#1A1A1A', width: 150 }}&gt;完成度&lt;/Text&gt;&#10;        &lt;Text style={{ fontFamily: 'Songti SC', fontSize: 26, fontWeight: 'bold', color: '#A8351A', width: 80 }}&gt;30%&lt;/Text&gt;&#10;        &lt;Text style={{ fontFamily: 'PingFang SC', fontSize: 16, color: '#3F4A55', flex: 1, lineHeight: 1.6 }}&gt;&#10;          双击即开、三种入口、四档结论、全部来源可点开、卡片可存图、报告可导出&#10;        &lt;/Text&gt;&#10;      &lt;/Box&gt;&#10;&#10;      &lt;Box style={{ flexDirection: 'row', paddingTop: 8, paddingBottom: 8, borderBottom: '1px dashed rgba(63,74,85,0.30)' }}&gt;&#10;        &lt;Text style={{ fontFamily: 'Songti SC', fontSize: 20, fontWeight: '600', color: '#1A1A1A', width: 150 }}&gt;创意&lt;/Text&gt;&#10;        &lt;Text style={{ fontFamily: 'Songti SC', fontSize: 26, fontWeight: 'bold', color: '#A8351A', width: 80 }}&gt;25%&lt;/Text&gt;&#10;        &lt;Text style={{ fontFamily: 'PingFang SC', fontSize: 16, color: '#3F4A55', flex: 1, lineHeight: 1.6 }}&gt;&#10;          侦探事务所叙事 + 朱红落章 + 断言拆解（真假分开盖）+ 查无实据这一档&#10;        &lt;/Text&gt;&#10;      &lt;/Box&gt;&#10;&#10;      &lt;Box style={{ flexDirection: 'row', paddingTop: 8, paddingBottom: 8, borderBottom: '1px dashed rgba(63,74,85,0.30)' }}&gt;&#10;        &lt;Text style={{ fontFamily: 'Songti SC', fontSize: 20, fontWeight: '600', color: '#1A1A1A', width: 150 }}&gt;场景价值&lt;/Text&gt;&#10;        &lt;Text style={{ fontFamily: 'Songti SC', fontSize: 26, fontWeight: 'bold', color: '#A8351A', width: 80 }}&gt;25%&lt;/Text&gt;&#10;        &lt;Text style={{ fontFamily: 'PingFang SC', fontSize: 16, color: '#3F4A55', flex: 1, lineHeight: 1.6 }}&gt;&#10;          回家族群，几乎人人有此痛点；反驳卡片直接可传播，盯梢名单形成日常使用&#10;        &lt;/Text&gt;&#10;      &lt;/Box&gt;&#10;&#10;      &lt;Box style={{ flexDirection: 'row', paddingTop: 8 }}&gt;&#10;        &lt;Text style={{ fontFamily: 'Songti SC', fontSize: 20, fontWeight: '600', color: '#1A1A1A', width: 150 }}&gt;展示&lt;/Text&gt;&#10;        &lt;Text style={{ fontFamily: 'Songti SC', fontSize: 26, fontWeight: 'bold', color: '#A8351A', width: 80 }}&gt;20%&lt;/Text&gt;&#10;        &lt;Text style={{ fontFamily: 'PingFang SC', fontSize: 16, color: '#3F4A55', flex: 1, lineHeight: 1.6 }}&gt;&#10;          打字机 + 扫描线 + 落章回弹，三分钟讲得完，大屏看得清&#10;        &lt;/Text&gt;&#10;      &lt;/Box&gt;&#10;&#10;    &lt;/Box&gt;&#10;&#10;    {/* 右 40% */}&#10;    &lt;Box style={{ flex: 1, justifyContent: 'center', gap: 22 }}&gt;&#10;      &lt;Text style={{ fontFamily: 'Songti SC', fontSize: 28, fontWeight: '600', color: '#1A1A1A', lineHeight: 1.45 }}&gt;&#10;        展示占 20%&lt;br /&gt;所以视觉不是装饰&#10;      &lt;/Text&gt;&#10;      &lt;Box style={{ height: 2, background: 'rgba(63,74,85,0.30)' }} /&gt;&#10;      &lt;Text style={{ fontFamily: 'PingFang SC', fontSize: 18, color: '#3F4A55', lineHeight: 1.7 }}&gt;&#10;        两个 25% 的分项——创意和场景价值——都不是靠功能堆出来的，靠的是&quot;这句话到底该怎么判&quot;这件事本身被重新设计过。&#10;      &lt;/Text&gt;&#10;      &lt;Box style={{ background: '#FDFCF7', border: '1px solid rgba(26,26,26,0.14)', borderLeft: '4px solid #A8351A', padding: '14px 16px' }}&gt;&#10;        &lt;Text style={{ fontFamily: 'PingFang SC', fontSize: 17, color: '#1A1A1A', lineHeight: 1.6 }}&gt;&#10;          每一分都对应到页面上一个能点开、能存图、能导出的具体动作。&#10;        &lt;/Text&gt;&#10;      &lt;/Box&gt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10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评委看什么，我们就做什么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85800" y="1276350"/>
            <a:ext cx="6286500" cy="5010150"/>
          </a:xfrm>
          <a:prstGeom prst="roundRect">
            <a:avLst>
              <a:gd name="adj" fmla="val 760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876300" y="1447800"/>
            <a:ext cx="5905500" cy="295275"/>
          </a:xfrm>
          <a:custGeom>
            <a:pathLst>
              <a:path w="620" h="31">
                <a:moveTo>
                  <a:pt x="0" y="29"/>
                </a:moveTo>
                <a:lnTo>
                  <a:pt x="620" y="29"/>
                </a:lnTo>
                <a:lnTo>
                  <a:pt x="62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76300" y="1447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3F4A55"/>
                </a:solidFill>
                <a:latin typeface="PingFang SC"/>
                <a:ea typeface="PingFang SC"/>
              </a:rPr>
              <a:t>维度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305050" y="1447800"/>
            <a:ext cx="76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3F4A55"/>
                </a:solidFill>
                <a:latin typeface="PingFang SC"/>
                <a:ea typeface="PingFang SC"/>
              </a:rPr>
              <a:t>权重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067050" y="1447800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3F4A55"/>
                </a:solidFill>
                <a:latin typeface="PingFang SC"/>
                <a:ea typeface="PingFang SC"/>
              </a:rPr>
              <a:t>我们怎么拿这一分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76300" y="1838325"/>
            <a:ext cx="5905500" cy="762000"/>
          </a:xfrm>
          <a:custGeom>
            <a:pathLst>
              <a:path w="620" h="80">
                <a:moveTo>
                  <a:pt x="0" y="79"/>
                </a:moveTo>
                <a:lnTo>
                  <a:pt x="620" y="79"/>
                </a:lnTo>
                <a:lnTo>
                  <a:pt x="62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76300" y="1914525"/>
            <a:ext cx="142875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Songti SC"/>
                <a:ea typeface="Songti SC"/>
              </a:rPr>
              <a:t>完成度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305050" y="1914525"/>
            <a:ext cx="76200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A8351A"/>
                </a:solidFill>
                <a:latin typeface="Songti SC"/>
                <a:ea typeface="Songti SC"/>
              </a:rPr>
              <a:t>30%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067050" y="1914525"/>
            <a:ext cx="3714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双击即开、三种入口、四档结论、全部来源可点开、卡片可存图、报告可导出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76300" y="2705100"/>
            <a:ext cx="5905500" cy="762000"/>
          </a:xfrm>
          <a:custGeom>
            <a:pathLst>
              <a:path w="620" h="80">
                <a:moveTo>
                  <a:pt x="0" y="79"/>
                </a:moveTo>
                <a:lnTo>
                  <a:pt x="620" y="79"/>
                </a:lnTo>
                <a:lnTo>
                  <a:pt x="62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76300" y="2781300"/>
            <a:ext cx="142875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Songti SC"/>
                <a:ea typeface="Songti SC"/>
              </a:rPr>
              <a:t>创意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2305050" y="2781300"/>
            <a:ext cx="76200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A8351A"/>
                </a:solidFill>
                <a:latin typeface="Songti SC"/>
                <a:ea typeface="Songti SC"/>
              </a:rPr>
              <a:t>25%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067050" y="2781300"/>
            <a:ext cx="3714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侦探事务所叙事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朱红落章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断言拆解（真假分开盖）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+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查无实据这一档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76300" y="3571875"/>
            <a:ext cx="5905500" cy="762000"/>
          </a:xfrm>
          <a:custGeom>
            <a:pathLst>
              <a:path w="620" h="80">
                <a:moveTo>
                  <a:pt x="0" y="79"/>
                </a:moveTo>
                <a:lnTo>
                  <a:pt x="620" y="79"/>
                </a:lnTo>
                <a:lnTo>
                  <a:pt x="620" y="80"/>
                </a:lnTo>
                <a:lnTo>
                  <a:pt x="0" y="80"/>
                </a:lnTo>
                <a:close/>
              </a:path>
            </a:pathLst>
          </a:cu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76300" y="3648075"/>
            <a:ext cx="142875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Songti SC"/>
                <a:ea typeface="Songti SC"/>
              </a:rPr>
              <a:t>场景价值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305050" y="3648075"/>
            <a:ext cx="76200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A8351A"/>
                </a:solidFill>
                <a:latin typeface="Songti SC"/>
                <a:ea typeface="Songti SC"/>
              </a:rPr>
              <a:t>25%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067050" y="3648075"/>
            <a:ext cx="3714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回家族群，几乎人人有此痛点；反驳卡片直接可传播，盯梢名单形成日常使用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76300" y="4514850"/>
            <a:ext cx="142875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Songti SC"/>
                <a:ea typeface="Songti SC"/>
              </a:rPr>
              <a:t>展示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305050" y="4514850"/>
            <a:ext cx="762000" cy="590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A8351A"/>
                </a:solidFill>
                <a:latin typeface="Songti SC"/>
                <a:ea typeface="Songti SC"/>
              </a:rPr>
              <a:t>20%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067050" y="4514850"/>
            <a:ext cx="37147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打字机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扫描线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落章回弹，三分钟讲得完，大屏看得清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315200" y="2019300"/>
            <a:ext cx="4191000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1A1A1A"/>
                </a:solidFill>
                <a:latin typeface="Songti SC"/>
                <a:ea typeface="Songti SC"/>
              </a:rPr>
              <a:t>展示占</a:t>
            </a:r>
            <a:r>
              <a:rPr lang="en-US" sz="2100" b="1">
                <a:solidFill>
                  <a:srgbClr val="1A1A1A"/>
                </a:solidFill>
                <a:latin typeface="Songti SC"/>
                <a:ea typeface="Songti SC"/>
              </a:rPr>
              <a:t> 20%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1A1A1A"/>
                </a:solidFill>
                <a:latin typeface="Songti SC"/>
                <a:ea typeface="Songti SC"/>
              </a:rPr>
              <a:t>所以视觉不是装饰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315200" y="3162300"/>
            <a:ext cx="41910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315200" y="3390900"/>
            <a:ext cx="4191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两个</a:t>
            </a:r>
            <a:r>
              <a:rPr lang="en-US" sz="1350">
                <a:solidFill>
                  <a:srgbClr val="3F4A55"/>
                </a:solidFill>
                <a:latin typeface="PingFang SC"/>
                <a:ea typeface="PingFang SC"/>
              </a:rPr>
              <a:t> 25% </a:t>
            </a: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的分项——创意和场景价值——都不是靠功能堆出来的，靠的是</a:t>
            </a:r>
            <a:r>
              <a:rPr lang="en-US" sz="135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这句话到底该怎么判</a:t>
            </a:r>
            <a:r>
              <a:rPr lang="en-US" sz="1350">
                <a:solidFill>
                  <a:srgbClr val="3F4A55"/>
                </a:solidFill>
                <a:latin typeface="PingFang SC"/>
                <a:ea typeface="PingFang SC"/>
              </a:rPr>
              <a:t>"</a:t>
            </a: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这件事本身被重新设计过。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353300" y="4657725"/>
            <a:ext cx="4191000" cy="895350"/>
          </a:xfrm>
          <a:prstGeom prst="rect">
            <a:avLst/>
          </a:prstGeom>
          <a:solidFill>
            <a:srgbClr val="FDFCF7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7315200" y="4657725"/>
            <a:ext cx="4229100" cy="895350"/>
          </a:xfrm>
          <a:custGeom>
            <a:pathLst>
              <a:path w="444" h="94">
                <a:moveTo>
                  <a:pt x="0" y="0"/>
                </a:moveTo>
                <a:lnTo>
                  <a:pt x="4" y="0"/>
                </a:lnTo>
                <a:lnTo>
                  <a:pt x="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A8351A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505700" y="4791075"/>
            <a:ext cx="38481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PingFang SC"/>
                <a:ea typeface="PingFang SC"/>
              </a:rPr>
              <a:t>每一分都对应到页面上一个能点开、能存图、能导出的具体动作。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134725" y="64103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10 / 12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4" name="" descr="&lt;Slide style={{ background: '#F4F1E9', padding: '20px 72px' }}&gt;&#10;&#10;  {/* A · 标题块 */}&#10;  &lt;Box style={{ height: 100, flexDirection: 'row', alignItems: 'flex-end', gap: 12 }}&gt;&#10;    &lt;Box style={{ width: 5, height: 26, background: '#A8351A' }} /&gt;&#10;    &lt;Text style={{ fontFamily: 'Songti SC', fontSize: 34, fontWeight: 'bold', color: '#1A1A1A' }}&gt;&#10;      现在就能打开&#10;    &lt;/Text&gt;&#10;  &lt;/Box&gt;&#10;&#10;  {/* B · 左标题 + 右内容 */}&#10;  &lt;Box style={{ height: 540, flexDirection: 'row', gap: 36, paddingTop: 14 }}&gt;&#10;&#10;    {/* 左 38% */}&#10;    &lt;Box style={{ width: 400, justifyContent: 'center', gap: 20 }}&gt;&#10;      &lt;Text style={{ fontFamily: 'Songti SC', fontSize: 30, fontWeight: '600', color: '#1A1A1A', lineHeight: 1.45 }}&gt;&#10;        已经上线&lt;br /&gt;点开就能玩&#10;      &lt;/Text&gt;&#10;      &lt;Box style={{ height: 2, background: 'rgba(63,74,85,0.30)' }} /&gt;&#10;      &lt;Text style={{ fontFamily: 'PingFang SC', fontSize: 18, color: '#3F4A55', lineHeight: 1.7 }}&gt;&#10;        单文件网页，零依赖，不挑设备，断网也能跑完整流程。&#10;      &lt;/Text&gt;&#10;      &lt;Box style={{ background: '#1A1A1A', borderRadius: 3, padding: '16px 18px' }}&gt;&#10;        &lt;Text style={{ fontFamily: 'PingFang SC', fontSize: 13, color: '#F4F1E9', opacity: 0.6, letterSpacing: 1 }}&gt;线上地址&lt;/Text&gt;&#10;        &lt;Text style={{ fontFamily: 'PingFang SC', fontSize: 16, color: '#F4F1E9', marginTop: 8, lineHeight: 1.5 }}&gt;&#10;          luciazhuyj.github.io/verifact-1024&#10;        &lt;/Text&gt;&#10;      &lt;/Box&gt;&#10;      &lt;Text style={{ fontFamily: 'PingFang SC', fontSize: 15, color: '#3F4A55', lineHeight: 1.7 }}&gt;&#10;        仓库：github.com/luciazhuyj/verifact-1024&#10;      &lt;/Text&gt;&#10;    &lt;/Box&gt;&#10;&#10;    {/* 右 62% · 三个入口 */}&#10;    &lt;Box style={{ flex: 1, gap: 16, justifyContent: 'center' }}&gt;&#10;&#10;      &lt;Box style={{ flexDirection: 'row', background: '#FDFCF7', border: '1px solid rgba(26,26,26,0.14)', borderRadius: 3, padding: '16px 18px', gap: 16, alignItems: 'center' }}&gt;&#10;        &lt;Box style={{ width: 8, height: 52, background: '#1A1A1A' }} /&gt;&#10;        &lt;Box style={{ flex: 1 }}&gt;&#10;          &lt;Text style={{ fontFamily: 'Songti SC', fontSize: 22, fontWeight: '600', color: '#1A1A1A' }}&gt;粘贴一句话&lt;/Text&gt;&#10;          &lt;Text style={{ fontFamily: 'PingFang SC', fontSize: 16, color: '#3F4A55', lineHeight: 1.6, marginTop: 5 }}&gt;&#10;            把任何让你犯嘀咕的话贴进去，看它被拆成几条、每条盖什么章。&#10;          &lt;/Text&gt;&#10;        &lt;/Box&gt;&#10;      &lt;/Box&gt;&#10;&#10;      &lt;Box style={{ flexDirection: 'row', background: '#FDFCF7', border: '1px solid rgba(26,26,26,0.14)', borderRadius: 3, padding: '16px 18px', gap: 16, alignItems: 'center' }}&gt;&#10;        &lt;Box style={{ width: 8, height: 52, background: '#1A1A1A' }} /&gt;&#10;        &lt;Box style={{ flex: 1 }}&gt;&#10;          &lt;Text style={{ fontFamily: 'Songti SC', fontSize: 22, fontWeight: '600', color: '#1A1A1A' }}&gt;丢一张截图&lt;/Text&gt;&#10;          &lt;Text style={{ fontFamily: 'PingFang SC', fontSize: 16, color: '#3F4A55', lineHeight: 1.6, marginTop: 5 }}&gt;&#10;            家族群那张截图直接上传，先认出说了什么，再逐句去查。&#10;          &lt;/Text&gt;&#10;        &lt;/Box&gt;&#10;      &lt;/Box&gt;&#10;&#10;      &lt;Box style={{ flexDirection: 'row', background: 'rgba(168,53,26,0.07)', border: '2px solid #A8351A', borderRadius: 3, padding: '16px 18px', gap: 16, alignItems: 'center' }}&gt;&#10;        &lt;Box style={{ width: 8, height: 52, background: '#A8351A' }} /&gt;&#10;        &lt;Box style={{ flex: 1 }}&gt;&#10;          &lt;Text style={{ fontFamily: 'Songti SC', fontSize: 22, fontWeight: '600', color: '#A8351A' }}&gt;建议从第三条开始&lt;/Text&gt;&#10;          &lt;Text style={{ fontFamily: 'PingFang SC', fontSize: 16, color: '#3F4A55', lineHeight: 1.6, marginTop: 5 }}&gt;&#10;            「芹菜汁能把血压降到正常」—— 它会走到「查无实据」那一档，那一帧最能说明这个作品是什么。&#10;          &lt;/Text&gt;&#10;        &lt;/Box&gt;&#10;      &lt;/Box&gt;&#10;&#10;    &lt;/Box&gt;&#10;&#10;  &lt;/Box&gt;&#10;&#10;  {/* C · 页脚 */}&#10;  &lt;Box style={{ height: 40, flexDirection: 'row', justifyContent: 'space-between', alignItems: 'center' }}&gt;&#10;    &lt;Text style={{ fontFamily: 'PingFang SC', fontSize: 12, color: '#3F4A55', opacity: 0.6 }}&gt;求真社 · Verifact&lt;/Text&gt;&#10;    &lt;Text style={{ fontFamily: 'PingFang SC', fontSize: 12, color: '#3F4A55' }}&gt;11 / 12&lt;/Text&gt;&#10;  &lt;/Box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85800" y="895350"/>
            <a:ext cx="47625" cy="24765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47725" y="752475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Songti SC"/>
                <a:ea typeface="Songti SC"/>
              </a:rPr>
              <a:t>现在就能打开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85800" y="1990725"/>
            <a:ext cx="3810000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1A1A1A"/>
                </a:solidFill>
                <a:latin typeface="Songti SC"/>
                <a:ea typeface="Songti SC"/>
              </a:rPr>
              <a:t>已经上线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1A1A1A"/>
                </a:solidFill>
                <a:latin typeface="Songti SC"/>
                <a:ea typeface="Songti SC"/>
              </a:rPr>
              <a:t>点开就能玩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85800" y="3181350"/>
            <a:ext cx="3810000" cy="19050"/>
          </a:xfrm>
          <a:prstGeom prst="rect">
            <a:avLst/>
          </a:prstGeom>
          <a:solidFill>
            <a:srgbClr val="3F4A55">
              <a:alpha val="30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5800" y="3390900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3F4A55"/>
                </a:solidFill>
                <a:latin typeface="PingFang SC"/>
                <a:ea typeface="PingFang SC"/>
              </a:rPr>
              <a:t>单文件网页，零依赖，不挑设备，断网也能跑完整流程。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85800" y="4286250"/>
            <a:ext cx="3810000" cy="809625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57250" y="4667250"/>
            <a:ext cx="34671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F4F1E9"/>
                </a:solidFill>
                <a:latin typeface="PingFang SC"/>
                <a:ea typeface="PingFang SC"/>
              </a:rPr>
              <a:t>luciazhuyj.github.io/verifact-1024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85800" y="5286375"/>
            <a:ext cx="38100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3F4A55"/>
                </a:solidFill>
                <a:latin typeface="PingFang SC"/>
                <a:ea typeface="PingFang SC"/>
              </a:rPr>
              <a:t>仓库：</a:t>
            </a:r>
            <a:r>
              <a:rPr lang="en-US" sz="1125">
                <a:solidFill>
                  <a:srgbClr val="3F4A55"/>
                </a:solidFill>
                <a:latin typeface="PingFang SC"/>
                <a:ea typeface="PingFang SC"/>
              </a:rPr>
              <a:t>github.com/luciazhuyj/verifact-1024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838700" y="2124075"/>
            <a:ext cx="6667500" cy="904875"/>
          </a:xfrm>
          <a:prstGeom prst="roundRect">
            <a:avLst>
              <a:gd name="adj" fmla="val 3158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010150" y="2333625"/>
            <a:ext cx="76200" cy="4953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238750" y="227647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Songti SC"/>
                <a:ea typeface="Songti SC"/>
              </a:rPr>
              <a:t>粘贴一句话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238750" y="2581275"/>
            <a:ext cx="609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把任何让你犯嘀咕的话贴进去，看它被拆成几条、每条盖什么章。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838700" y="3181350"/>
            <a:ext cx="6667500" cy="904875"/>
          </a:xfrm>
          <a:prstGeom prst="roundRect">
            <a:avLst>
              <a:gd name="adj" fmla="val 3158"/>
            </a:avLst>
          </a:prstGeom>
          <a:solidFill>
            <a:srgbClr val="FDFCF7"/>
          </a:solidFill>
          <a:ln w="12700">
            <a:solidFill>
              <a:srgbClr val="1A1A1A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010150" y="3390900"/>
            <a:ext cx="76200" cy="4953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238750" y="333375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Songti SC"/>
                <a:ea typeface="Songti SC"/>
              </a:rPr>
              <a:t>丢一张截图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238750" y="3638550"/>
            <a:ext cx="609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家族群那张截图直接上传，先认出说了什么，再逐句去查。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4238625"/>
            <a:ext cx="6667500" cy="1200150"/>
          </a:xfrm>
          <a:prstGeom prst="roundRect">
            <a:avLst>
              <a:gd name="adj" fmla="val 2381"/>
            </a:avLst>
          </a:prstGeom>
          <a:solidFill>
            <a:srgbClr val="A8351A">
              <a:alpha val="7000"/>
            </a:srgbClr>
          </a:solidFill>
          <a:ln w="25400">
            <a:solidFill>
              <a:srgbClr val="A8351A"/>
            </a:solidFill>
            <a:prstDash val="solid"/>
          </a:ln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5010150" y="4591050"/>
            <a:ext cx="76200" cy="4953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238750" y="439102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A8351A"/>
                </a:solidFill>
                <a:latin typeface="Songti SC"/>
                <a:ea typeface="Songti SC"/>
              </a:rPr>
              <a:t>建议从第三条开始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238750" y="4695825"/>
            <a:ext cx="6096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「芹菜汁能把血压降到正常」——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它会走到「查无实据」那一档，那一帧最能说明这个作品是什么。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63300" y="64103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F4A55"/>
                </a:solidFill>
                <a:latin typeface="PingFang SC"/>
                <a:ea typeface="PingFang SC"/>
              </a:rPr>
              <a:t>11 / 12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57250" y="4438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4F1E9">
                    <a:alpha val="60000"/>
                  </a:srgbClr>
                </a:solidFill>
                <a:latin typeface="PingFang SC"/>
                <a:ea typeface="PingFang SC"/>
              </a:rPr>
              <a:t>线上地址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641032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求真社</a:t>
            </a:r>
            <a:r>
              <a:rPr lang="en-US" sz="900">
                <a:solidFill>
                  <a:srgbClr val="3F4A55">
                    <a:alpha val="60000"/>
                  </a:srgbClr>
                </a:solidFill>
                <a:latin typeface="PingFang SC"/>
                <a:ea typeface="PingFang SC"/>
              </a:rPr>
              <a:t> · Verifact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9" name="" descr="&lt;Slide style={{ background: '#F4F1E9', padding: '0', position: 'relative', overflow: 'hidden', justifyContent: 'center', alignItems: 'center' }}&gt;&#10;&#10;  {/* 背景巨型淡印 */}&#10;  &lt;Box style={{ position: 'absolute', top: 0, left: 0, width: '100%', height: '100%', opacity: 0.06, alignItems: 'center', justifyContent: 'center' }}&gt;&#10;    &lt;svg width={660} height={660} viewBox='0 0 300 300'&gt;&#10;      &lt;circle cx='150' cy='150' r='132' fill='none' stroke='#A8351A' strokeWidth='9' /&gt;&#10;      &lt;circle cx='150' cy='150' r='116' fill='none' stroke='#A8351A' strokeWidth='3' /&gt;&#10;    &lt;/svg&gt;&#10;  &lt;/Box&gt;&#10;&#10;  {/* 主印章 */}&#10;  &lt;Box style={{ position: 'relative', zIndex: 1, alignItems: 'center' }}&gt;&#10;    &lt;svg width={360} height={360} viewBox='0 0 300 300'&gt;&#10;      &lt;circle cx='150' cy='150' r='138' fill='rgba(168,53,26,0.07)' stroke='#A8351A' strokeWidth='8' /&gt;&#10;      &lt;circle cx='150' cy='150' r='124' fill='none' stroke='#A8351A' strokeWidth='2.5' /&gt;&#10;      &lt;text x='150' y='130' textAnchor='middle' fontFamily='Songti SC' fontSize='64' fontWeight='bold' fill='#A8351A'&gt;查&lt;/text&gt;&#10;      &lt;text x='150' y='200' textAnchor='middle' fontFamily='Songti SC' fontSize='64' fontWeight='bold' fill='#A8351A'&gt;真&lt;/text&gt;&#10;      &lt;text x='150' y='238' textAnchor='middle' fontFamily='PingFang SC' fontSize='13' fill='#A8351A' letterSpacing='3'&gt;VERIFACT&lt;/text&gt;&#10;    &lt;/svg&gt;&#10;  &lt;/Box&gt;&#10;&#10;  {/* 金句 */}&#10;  &lt;Text style={{ fontFamily: 'Songti SC', fontSize: 58, fontWeight: 'bold', color: '#1A1A1A', textAlign: 'center', marginTop: 26, position: 'relative', zIndex: 1 }}&gt;&#10;    少点幻觉，多点搜索&#10;  &lt;/Text&gt;&#10;&#10;  &lt;Text style={{ fontFamily: 'Songti SC', fontSize: 26, color: '#3F4A55', textAlign: 'center', marginTop: 20, position: 'relative', zIndex: 1 }}&gt;&#10;    一条传言，一份卷宗&#10;  &lt;/Text&gt;&#10;&#10;  &lt;Box style={{ width: 80, height: 4, background: '#A8351A', marginTop: 26, position: 'relative', zIndex: 1 }} /&gt;&#10;&#10;  &lt;Text style={{ fontFamily: 'PingFang SC', fontSize: 16, color: '#3F4A55', textAlign: 'center', marginTop: 24, lineHeight: 1.7, position: 'relative', zIndex: 1 }}&gt;&#10;    luciazhuyj.github.io/verifact-1024&lt;br /&gt;&#10;    WaytoAGI 1024 切磋大会 · 侦探赛道 ｜ 检索驱动：元宝搜索&#10;  &lt;/Text&gt;&#10;&#10;  {/* 底部朱砂条 */}&#10;  &lt;Box style={{ position: 'absolute', left: 0, bottom: 0, width: '100%', height: 8, background: '#A8351A' }} /&gt;&#10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1E9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alphaModFix amt="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952750" y="285750"/>
            <a:ext cx="6286500" cy="6286500"/>
          </a:xfrm>
          <a:prstGeom prst="rect">
            <a:avLst/>
          </a:prstGeom>
          <a:ln/>
        </p:spPr>
      </p:pic>
      <p:sp>
        <p:nvSpPr>
          <p:cNvPr id="72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81500" y="438150"/>
            <a:ext cx="3429000" cy="3429000"/>
          </a:xfrm>
          <a:prstGeom prst="rect">
            <a:avLst/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609975" y="4114800"/>
            <a:ext cx="497205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350" b="1">
                <a:solidFill>
                  <a:srgbClr val="1A1A1A"/>
                </a:solidFill>
                <a:latin typeface="Songti SC"/>
                <a:ea typeface="Songti SC"/>
              </a:rPr>
              <a:t>少点幻觉，多点搜索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981575" y="4972050"/>
            <a:ext cx="22288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950">
                <a:solidFill>
                  <a:srgbClr val="3F4A55"/>
                </a:solidFill>
                <a:latin typeface="Songti SC"/>
                <a:ea typeface="Songti SC"/>
              </a:rPr>
              <a:t>一条传言，一份卷宗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0" y="5524500"/>
            <a:ext cx="762000" cy="38100"/>
          </a:xfrm>
          <a:prstGeom prst="rect">
            <a:avLst/>
          </a:prstGeom>
          <a:solidFill>
            <a:srgbClr val="A8351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019550" y="5791200"/>
            <a:ext cx="4162425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luciazhuyj.github.io/verifact-1024</a:t>
            </a:r>
            <a:endParaRPr/>
          </a:p>
          <a:p>
            <a:pPr algn="ctr">
              <a:lnSpc>
                <a:spcPct val="170000"/>
              </a:lnSpc>
            </a:pP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WaytoAGI 1024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切磋大会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·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侦探赛道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｜</a:t>
            </a:r>
            <a:r>
              <a:rPr lang="en-US" sz="1200">
                <a:solidFill>
                  <a:srgbClr val="3F4A55"/>
                </a:solidFill>
                <a:latin typeface="PingFang SC"/>
                <a:ea typeface="PingFang SC"/>
              </a:rPr>
              <a:t> </a:t>
            </a:r>
            <a:r>
              <a:rPr lang="zh-CN" sz="1200">
                <a:solidFill>
                  <a:srgbClr val="3F4A55"/>
                </a:solidFill>
                <a:latin typeface="PingFang SC"/>
                <a:ea typeface="PingFang SC"/>
              </a:rPr>
              <a:t>检索驱动：元宝搜索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2026-10-25T08:41:05Z</dcterms:created>
  <dcterms:modified xsi:type="dcterms:W3CDTF">2026-10-25T08:41:05Z</dcterms:modified>
</cp:coreProperties>
</file>